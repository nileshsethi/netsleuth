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Say the project name and what it does in one sentence.</a:t>
            </a:r>
          </a:p>
          <a:p>
            <a:r>
              <a:t>One sentence: NetSleuth Lite reads cloud network flow logs, finds three types of suspicious activity, and shows the results in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briefly. AWS VPC Flow Logs record every network connection. You cannot read thousands of rows by hand. You need a tool that finds the suspicious ones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box left to right. The CSV goes in, the loader cleans it, the detectors find suspicious patterns, incidents groups related alerts, and the dashboard shows everything. No machine learning. No external APIs.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row of the table. A port scan triggers when 10 or more different ports are probed in 60 seconds. A host scan triggers when 5 or more different machines are probed on the same port in 60 seconds. Exfiltration triggers when 500 KB or more is sent to one external machine in 120 seconds. These are all in config.py.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formula step by step. Start with severity. Add extra alerts bonus. Add exfil volume bonus. Cap at 100. Then walk through Scenario 4 as an example: 50 + 20 + 20 = 90, Critical.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row by row. Point out that Scenario 5 has zero attacks and zero alerts — that is the false positive check. Point out that Scenario 4 generates 3 alerts but only 1 incident because all three happen within 5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each metric means. Then show the table. All scores are 1.0. Be honest: this is because the synthetic data matches our thresholds exactly. In real life, results would be different.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10 tests pass. Point out the key ones: threshold boundary tests check that the rules fire at exactly the right count. The label leakage test proves the detector never reads the label column. The scoring test proves you can verify the score by hand.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tab. Tab 1 shows incidents. Tab 2 shows the timeline chart. Tab 3 shows the network graph. Tab 4 lets you filter and inspect raw flows. Tab 5 generates a downloadable forensic report and shows the evaluation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honest about limitations shows the examiner that you understand the project. The most important limitation is that the data is synthetic. If asked what you would do next, say: test on a sample of real anonymised VPC Flow Logs and tune the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MITRE ATT&amp;CK briefly. It is a public list of attack techniques. T1046 is port scanning. T1018 is host scanning. T1048 is data exfiltration. By mapping to these IDs, an analyst can look up more information about each attack type.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what was built. Eight bullet points on the left, four future improvements on the right. End with: the main value of this project is transparency — every decision the code makes can be explained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no need to read out loud. Just indicate it is there.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I am happy to take questions. If asked what the project does in one sentence: it reads cloud network flow logs, finds three attack patterns using counting rules, and shows everything in a dashboard with an explainable risk score.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445752" cy="457200"/>
          </a:xfrm>
          <a:prstGeom prst="rect">
            <a:avLst/>
          </a:prstGeom>
          <a:noFill/>
        </p:spPr>
        <p:txBody>
          <a:bodyPr wrap="square">
            <a:spAutoFit/>
          </a:bodyPr>
          <a:lstStyle/>
          <a:p>
            <a:pPr algn="ctr"/>
            <a:r>
              <a:rPr sz="1100" b="1">
                <a:solidFill>
                  <a:srgbClr val="38BDF8"/>
                </a:solidFill>
                <a:latin typeface="Segoe UI"/>
              </a:rPr>
              <a:t>CYBERSECURITY &amp; CLOUD COMPUTING — COURSE PROJECT</a:t>
            </a:r>
          </a:p>
        </p:txBody>
      </p:sp>
      <p:sp>
        <p:nvSpPr>
          <p:cNvPr id="5" name="TextBox 4"/>
          <p:cNvSpPr txBox="1"/>
          <p:nvPr/>
        </p:nvSpPr>
        <p:spPr>
          <a:xfrm>
            <a:off x="914400" y="1920240"/>
            <a:ext cx="10360152" cy="1188720"/>
          </a:xfrm>
          <a:prstGeom prst="rect">
            <a:avLst/>
          </a:prstGeom>
          <a:noFill/>
        </p:spPr>
        <p:txBody>
          <a:bodyPr wrap="square">
            <a:spAutoFit/>
          </a:bodyPr>
          <a:lstStyle/>
          <a:p>
            <a:pPr algn="ctr"/>
            <a:r>
              <a:rPr sz="5400" b="1">
                <a:solidFill>
                  <a:srgbClr val="F8FAFC"/>
                </a:solidFill>
                <a:latin typeface="Segoe UI"/>
              </a:rPr>
              <a:t>NetSleuth Lite</a:t>
            </a:r>
          </a:p>
        </p:txBody>
      </p:sp>
      <p:sp>
        <p:nvSpPr>
          <p:cNvPr id="6" name="TextBox 5"/>
          <p:cNvSpPr txBox="1"/>
          <p:nvPr/>
        </p:nvSpPr>
        <p:spPr>
          <a:xfrm>
            <a:off x="914400" y="3246120"/>
            <a:ext cx="10360152" cy="731520"/>
          </a:xfrm>
          <a:prstGeom prst="rect">
            <a:avLst/>
          </a:prstGeom>
          <a:noFill/>
        </p:spPr>
        <p:txBody>
          <a:bodyPr wrap="square">
            <a:spAutoFit/>
          </a:bodyPr>
          <a:lstStyle/>
          <a:p>
            <a:pPr algn="ctr"/>
            <a:r>
              <a:rPr sz="1800" b="0">
                <a:solidFill>
                  <a:srgbClr val="94A3B8"/>
                </a:solidFill>
                <a:latin typeface="Segoe UI"/>
              </a:rPr>
              <a:t>A Simple Explainable Network Attack Timeline
and Threat Analysis Tool for Cloud Flow Logs</a:t>
            </a:r>
          </a:p>
        </p:txBody>
      </p:sp>
      <p:sp>
        <p:nvSpPr>
          <p:cNvPr id="7" name="Rectangle 6"/>
          <p:cNvSpPr/>
          <p:nvPr/>
        </p:nvSpPr>
        <p:spPr>
          <a:xfrm>
            <a:off x="3657600" y="4160520"/>
            <a:ext cx="48737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43400"/>
            <a:ext cx="10360152" cy="365760"/>
          </a:xfrm>
          <a:prstGeom prst="rect">
            <a:avLst/>
          </a:prstGeom>
          <a:noFill/>
        </p:spPr>
        <p:txBody>
          <a:bodyPr wrap="square">
            <a:spAutoFit/>
          </a:bodyPr>
          <a:lstStyle/>
          <a:p>
            <a:pPr algn="ctr"/>
            <a:r>
              <a:rPr sz="1300" b="0">
                <a:solidFill>
                  <a:srgbClr val="94A3B8"/>
                </a:solidFill>
                <a:latin typeface="Segoe UI"/>
              </a:rPr>
              <a:t>Student: [STUDENT NAME]   |   [COLLEGE / UNIVERSITY]   |   [ACADEMIC YEAR]</a:t>
            </a:r>
          </a:p>
        </p:txBody>
      </p:sp>
      <p:sp>
        <p:nvSpPr>
          <p:cNvPr id="9" name="TextBox 8"/>
          <p:cNvSpPr txBox="1"/>
          <p:nvPr/>
        </p:nvSpPr>
        <p:spPr>
          <a:xfrm>
            <a:off x="914400" y="4754880"/>
            <a:ext cx="10360152" cy="365760"/>
          </a:xfrm>
          <a:prstGeom prst="rect">
            <a:avLst/>
          </a:prstGeom>
          <a:noFill/>
        </p:spPr>
        <p:txBody>
          <a:bodyPr wrap="square">
            <a:spAutoFit/>
          </a:bodyPr>
          <a:lstStyle/>
          <a:p>
            <a:pPr algn="ctr"/>
            <a:r>
              <a:rPr sz="1300" b="0">
                <a:solidFill>
                  <a:srgbClr val="94A3B8"/>
                </a:solidFill>
                <a:latin typeface="Segoe UI"/>
              </a:rPr>
              <a:t>Course: Cybersecurity and Cloud, [COURSE CODE]   |   Guide: [GUIDE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Problem Statement</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Why does this tool need to exist?</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7772400" cy="5029200"/>
          </a:xfrm>
          <a:prstGeom prst="rect">
            <a:avLst/>
          </a:prstGeom>
          <a:noFill/>
        </p:spPr>
        <p:txBody>
          <a:bodyPr wrap="square">
            <a:spAutoFit/>
          </a:bodyPr>
          <a:lstStyle/>
          <a:p>
            <a:pPr algn="l"/>
            <a:r>
              <a:rPr sz="1700">
                <a:solidFill>
                  <a:srgbClr val="F8FAFC"/>
                </a:solidFill>
                <a:latin typeface="Segoe UI"/>
              </a:rPr>
              <a:t>Cloud platforms like AWS record every network connection as a flow log.</a:t>
            </a:r>
          </a:p>
          <a:p>
            <a:pPr algn="l"/>
            <a:r>
              <a:rPr sz="1700">
                <a:solidFill>
                  <a:srgbClr val="F8FAFC"/>
                </a:solidFill>
                <a:latin typeface="Segoe UI"/>
              </a:rPr>
              <a:t>A busy system produces thousands of log rows per minute.</a:t>
            </a:r>
          </a:p>
          <a:p>
            <a:pPr algn="l"/>
            <a:r>
              <a:rPr sz="1700">
                <a:solidFill>
                  <a:srgbClr val="F8FAFC"/>
                </a:solidFill>
                <a:latin typeface="Segoe UI"/>
              </a:rPr>
              <a:t>Manual inspection is impossible at this scale.</a:t>
            </a:r>
          </a:p>
          <a:p>
            <a:pPr algn="l"/>
            <a:r>
              <a:rPr sz="1700">
                <a:solidFill>
                  <a:srgbClr val="F8FAFC"/>
                </a:solidFill>
                <a:latin typeface="Segoe UI"/>
              </a:rPr>
              <a:t>Commercial security tools are expensive and produce opaque alerts.</a:t>
            </a:r>
          </a:p>
          <a:p>
            <a:pPr algn="l"/>
            <a:r>
              <a:rPr sz="1700">
                <a:solidFill>
                  <a:srgbClr val="F8FAFC"/>
                </a:solidFill>
                <a:latin typeface="Segoe UI"/>
              </a:rPr>
              <a:t>A student or small team needs a simple, readable, and transparent tool.</a:t>
            </a:r>
          </a:p>
          <a:p>
            <a:pPr algn="l"/>
            <a:r>
              <a:rPr sz="1700">
                <a:solidFill>
                  <a:srgbClr val="F8FAFC"/>
                </a:solidFill>
                <a:latin typeface="Segoe UI"/>
              </a:rPr>
              <a:t/>
            </a:r>
          </a:p>
          <a:p>
            <a:pPr algn="l"/>
            <a:r>
              <a:rPr sz="1700">
                <a:solidFill>
                  <a:srgbClr val="F8FAFC"/>
                </a:solidFill>
                <a:latin typeface="Segoe UI"/>
              </a:rPr>
              <a:t>This project answers: Can three common network attacks be detected</a:t>
            </a:r>
          </a:p>
          <a:p>
            <a:pPr algn="l"/>
            <a:r>
              <a:rPr sz="1700">
                <a:solidFill>
                  <a:srgbClr val="F8FAFC"/>
                </a:solidFill>
                <a:latin typeface="Segoe UI"/>
              </a:rPr>
              <a:t>from flow logs using only counting rules written in plain Python?</a:t>
            </a:r>
          </a:p>
        </p:txBody>
      </p:sp>
      <p:sp>
        <p:nvSpPr>
          <p:cNvPr id="8" name="Rectangle 7"/>
          <p:cNvSpPr/>
          <p:nvPr/>
        </p:nvSpPr>
        <p:spPr>
          <a:xfrm>
            <a:off x="8412480" y="1371600"/>
            <a:ext cx="3291840" cy="22860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0" y="1463040"/>
            <a:ext cx="3108960" cy="365760"/>
          </a:xfrm>
          <a:prstGeom prst="rect">
            <a:avLst/>
          </a:prstGeom>
          <a:noFill/>
        </p:spPr>
        <p:txBody>
          <a:bodyPr wrap="square">
            <a:spAutoFit/>
          </a:bodyPr>
          <a:lstStyle/>
          <a:p>
            <a:pPr algn="l"/>
            <a:r>
              <a:rPr sz="1300" b="1">
                <a:solidFill>
                  <a:srgbClr val="38BDF8"/>
                </a:solidFill>
                <a:latin typeface="Segoe UI"/>
              </a:rPr>
              <a:t>Three Attack Types Covered</a:t>
            </a:r>
          </a:p>
        </p:txBody>
      </p:sp>
      <p:sp>
        <p:nvSpPr>
          <p:cNvPr id="10" name="TextBox 9"/>
          <p:cNvSpPr txBox="1"/>
          <p:nvPr/>
        </p:nvSpPr>
        <p:spPr>
          <a:xfrm>
            <a:off x="8503920" y="1874519"/>
            <a:ext cx="3108960" cy="1645920"/>
          </a:xfrm>
          <a:prstGeom prst="rect">
            <a:avLst/>
          </a:prstGeom>
          <a:noFill/>
        </p:spPr>
        <p:txBody>
          <a:bodyPr wrap="square">
            <a:spAutoFit/>
          </a:bodyPr>
          <a:lstStyle/>
          <a:p>
            <a:pPr algn="l"/>
            <a:r>
              <a:rPr sz="1500" b="0">
                <a:solidFill>
                  <a:srgbClr val="F8FAFC"/>
                </a:solidFill>
                <a:latin typeface="Segoe UI"/>
              </a:rPr>
              <a:t>Port Scanning
Host / Network Sweep
Data Exfiltration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System Architecture</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One-directional processing pipeline — no feedback loops</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2011680"/>
            <a:ext cx="2103120" cy="137160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2084832"/>
            <a:ext cx="1920240" cy="411480"/>
          </a:xfrm>
          <a:prstGeom prst="rect">
            <a:avLst/>
          </a:prstGeom>
          <a:noFill/>
        </p:spPr>
        <p:txBody>
          <a:bodyPr wrap="square">
            <a:spAutoFit/>
          </a:bodyPr>
          <a:lstStyle/>
          <a:p>
            <a:pPr algn="ctr"/>
            <a:r>
              <a:rPr sz="1400" b="1">
                <a:solidFill>
                  <a:srgbClr val="F8FAFC"/>
                </a:solidFill>
                <a:latin typeface="Segoe UI"/>
              </a:rPr>
              <a:t>CSV Input</a:t>
            </a:r>
          </a:p>
        </p:txBody>
      </p:sp>
      <p:sp>
        <p:nvSpPr>
          <p:cNvPr id="9" name="TextBox 8"/>
          <p:cNvSpPr txBox="1"/>
          <p:nvPr/>
        </p:nvSpPr>
        <p:spPr>
          <a:xfrm>
            <a:off x="393192" y="2514600"/>
            <a:ext cx="1956816" cy="777240"/>
          </a:xfrm>
          <a:prstGeom prst="rect">
            <a:avLst/>
          </a:prstGeom>
          <a:noFill/>
        </p:spPr>
        <p:txBody>
          <a:bodyPr wrap="square">
            <a:spAutoFit/>
          </a:bodyPr>
          <a:lstStyle/>
          <a:p>
            <a:pPr algn="ctr"/>
            <a:r>
              <a:rPr sz="1200" b="0">
                <a:solidFill>
                  <a:srgbClr val="F8FAFC"/>
                </a:solidFill>
                <a:latin typeface="Segoe UI"/>
              </a:rPr>
              <a:t>AWS VPC Flow Log
(8 columns)</a:t>
            </a:r>
          </a:p>
        </p:txBody>
      </p:sp>
      <p:sp>
        <p:nvSpPr>
          <p:cNvPr id="10" name="TextBox 9"/>
          <p:cNvSpPr txBox="1"/>
          <p:nvPr/>
        </p:nvSpPr>
        <p:spPr>
          <a:xfrm>
            <a:off x="2441448" y="2514600"/>
            <a:ext cx="320040" cy="457200"/>
          </a:xfrm>
          <a:prstGeom prst="rect">
            <a:avLst/>
          </a:prstGeom>
          <a:noFill/>
        </p:spPr>
        <p:txBody>
          <a:bodyPr wrap="square">
            <a:spAutoFit/>
          </a:bodyPr>
          <a:lstStyle/>
          <a:p>
            <a:pPr algn="ctr"/>
            <a:r>
              <a:rPr sz="2400" b="1">
                <a:solidFill>
                  <a:srgbClr val="38BDF8"/>
                </a:solidFill>
                <a:latin typeface="Segoe UI"/>
              </a:rPr>
              <a:t>&gt;</a:t>
            </a:r>
          </a:p>
        </p:txBody>
      </p:sp>
      <p:sp>
        <p:nvSpPr>
          <p:cNvPr id="11" name="Rectangle 10"/>
          <p:cNvSpPr/>
          <p:nvPr/>
        </p:nvSpPr>
        <p:spPr>
          <a:xfrm>
            <a:off x="2606040" y="2011680"/>
            <a:ext cx="2103120" cy="13716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80" y="2084832"/>
            <a:ext cx="1920240" cy="411480"/>
          </a:xfrm>
          <a:prstGeom prst="rect">
            <a:avLst/>
          </a:prstGeom>
          <a:noFill/>
        </p:spPr>
        <p:txBody>
          <a:bodyPr wrap="square">
            <a:spAutoFit/>
          </a:bodyPr>
          <a:lstStyle/>
          <a:p>
            <a:pPr algn="ctr"/>
            <a:r>
              <a:rPr sz="1400" b="1">
                <a:solidFill>
                  <a:srgbClr val="F8FAFC"/>
                </a:solidFill>
                <a:latin typeface="Segoe UI"/>
              </a:rPr>
              <a:t>loader.py</a:t>
            </a:r>
          </a:p>
        </p:txBody>
      </p:sp>
      <p:sp>
        <p:nvSpPr>
          <p:cNvPr id="13" name="TextBox 12"/>
          <p:cNvSpPr txBox="1"/>
          <p:nvPr/>
        </p:nvSpPr>
        <p:spPr>
          <a:xfrm>
            <a:off x="2679192" y="2514600"/>
            <a:ext cx="1956816" cy="777240"/>
          </a:xfrm>
          <a:prstGeom prst="rect">
            <a:avLst/>
          </a:prstGeom>
          <a:noFill/>
        </p:spPr>
        <p:txBody>
          <a:bodyPr wrap="square">
            <a:spAutoFit/>
          </a:bodyPr>
          <a:lstStyle/>
          <a:p>
            <a:pPr algn="ctr"/>
            <a:r>
              <a:rPr sz="1200" b="0">
                <a:solidFill>
                  <a:srgbClr val="F8FAFC"/>
                </a:solidFill>
                <a:latin typeface="Segoe UI"/>
              </a:rPr>
              <a:t>Validate, clean
and sort rows</a:t>
            </a:r>
          </a:p>
        </p:txBody>
      </p:sp>
      <p:sp>
        <p:nvSpPr>
          <p:cNvPr id="14" name="TextBox 13"/>
          <p:cNvSpPr txBox="1"/>
          <p:nvPr/>
        </p:nvSpPr>
        <p:spPr>
          <a:xfrm>
            <a:off x="4727448" y="2514600"/>
            <a:ext cx="320040" cy="457200"/>
          </a:xfrm>
          <a:prstGeom prst="rect">
            <a:avLst/>
          </a:prstGeom>
          <a:noFill/>
        </p:spPr>
        <p:txBody>
          <a:bodyPr wrap="square">
            <a:spAutoFit/>
          </a:bodyPr>
          <a:lstStyle/>
          <a:p>
            <a:pPr algn="ctr"/>
            <a:r>
              <a:rPr sz="2400" b="1">
                <a:solidFill>
                  <a:srgbClr val="38BDF8"/>
                </a:solidFill>
                <a:latin typeface="Segoe UI"/>
              </a:rPr>
              <a:t>&gt;</a:t>
            </a:r>
          </a:p>
        </p:txBody>
      </p:sp>
      <p:sp>
        <p:nvSpPr>
          <p:cNvPr id="15" name="Rectangle 14"/>
          <p:cNvSpPr/>
          <p:nvPr/>
        </p:nvSpPr>
        <p:spPr>
          <a:xfrm>
            <a:off x="4892040" y="2011680"/>
            <a:ext cx="2103120" cy="13716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2084832"/>
            <a:ext cx="1920240" cy="411480"/>
          </a:xfrm>
          <a:prstGeom prst="rect">
            <a:avLst/>
          </a:prstGeom>
          <a:noFill/>
        </p:spPr>
        <p:txBody>
          <a:bodyPr wrap="square">
            <a:spAutoFit/>
          </a:bodyPr>
          <a:lstStyle/>
          <a:p>
            <a:pPr algn="ctr"/>
            <a:r>
              <a:rPr sz="1400" b="1">
                <a:solidFill>
                  <a:srgbClr val="F8FAFC"/>
                </a:solidFill>
                <a:latin typeface="Segoe UI"/>
              </a:rPr>
              <a:t>detectors.py</a:t>
            </a:r>
          </a:p>
        </p:txBody>
      </p:sp>
      <p:sp>
        <p:nvSpPr>
          <p:cNvPr id="17" name="TextBox 16"/>
          <p:cNvSpPr txBox="1"/>
          <p:nvPr/>
        </p:nvSpPr>
        <p:spPr>
          <a:xfrm>
            <a:off x="4965192" y="2514600"/>
            <a:ext cx="1956816" cy="777240"/>
          </a:xfrm>
          <a:prstGeom prst="rect">
            <a:avLst/>
          </a:prstGeom>
          <a:noFill/>
        </p:spPr>
        <p:txBody>
          <a:bodyPr wrap="square">
            <a:spAutoFit/>
          </a:bodyPr>
          <a:lstStyle/>
          <a:p>
            <a:pPr algn="ctr"/>
            <a:r>
              <a:rPr sz="1200" b="0">
                <a:solidFill>
                  <a:srgbClr val="F8FAFC"/>
                </a:solidFill>
                <a:latin typeface="Segoe UI"/>
              </a:rPr>
              <a:t>3 counting rules
generate alerts</a:t>
            </a:r>
          </a:p>
        </p:txBody>
      </p:sp>
      <p:sp>
        <p:nvSpPr>
          <p:cNvPr id="18" name="TextBox 17"/>
          <p:cNvSpPr txBox="1"/>
          <p:nvPr/>
        </p:nvSpPr>
        <p:spPr>
          <a:xfrm>
            <a:off x="7013448" y="2514600"/>
            <a:ext cx="320040" cy="457200"/>
          </a:xfrm>
          <a:prstGeom prst="rect">
            <a:avLst/>
          </a:prstGeom>
          <a:noFill/>
        </p:spPr>
        <p:txBody>
          <a:bodyPr wrap="square">
            <a:spAutoFit/>
          </a:bodyPr>
          <a:lstStyle/>
          <a:p>
            <a:pPr algn="ctr"/>
            <a:r>
              <a:rPr sz="2400" b="1">
                <a:solidFill>
                  <a:srgbClr val="38BDF8"/>
                </a:solidFill>
                <a:latin typeface="Segoe UI"/>
              </a:rPr>
              <a:t>&gt;</a:t>
            </a:r>
          </a:p>
        </p:txBody>
      </p:sp>
      <p:sp>
        <p:nvSpPr>
          <p:cNvPr id="19" name="Rectangle 18"/>
          <p:cNvSpPr/>
          <p:nvPr/>
        </p:nvSpPr>
        <p:spPr>
          <a:xfrm>
            <a:off x="7178040" y="2011680"/>
            <a:ext cx="2103120" cy="13716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084832"/>
            <a:ext cx="1920240" cy="411480"/>
          </a:xfrm>
          <a:prstGeom prst="rect">
            <a:avLst/>
          </a:prstGeom>
          <a:noFill/>
        </p:spPr>
        <p:txBody>
          <a:bodyPr wrap="square">
            <a:spAutoFit/>
          </a:bodyPr>
          <a:lstStyle/>
          <a:p>
            <a:pPr algn="ctr"/>
            <a:r>
              <a:rPr sz="1400" b="1">
                <a:solidFill>
                  <a:srgbClr val="F8FAFC"/>
                </a:solidFill>
                <a:latin typeface="Segoe UI"/>
              </a:rPr>
              <a:t>incidents.py</a:t>
            </a:r>
          </a:p>
        </p:txBody>
      </p:sp>
      <p:sp>
        <p:nvSpPr>
          <p:cNvPr id="21" name="TextBox 20"/>
          <p:cNvSpPr txBox="1"/>
          <p:nvPr/>
        </p:nvSpPr>
        <p:spPr>
          <a:xfrm>
            <a:off x="7251192" y="2514600"/>
            <a:ext cx="1956816" cy="777240"/>
          </a:xfrm>
          <a:prstGeom prst="rect">
            <a:avLst/>
          </a:prstGeom>
          <a:noFill/>
        </p:spPr>
        <p:txBody>
          <a:bodyPr wrap="square">
            <a:spAutoFit/>
          </a:bodyPr>
          <a:lstStyle/>
          <a:p>
            <a:pPr algn="ctr"/>
            <a:r>
              <a:rPr sz="1200" b="0">
                <a:solidFill>
                  <a:srgbClr val="F8FAFC"/>
                </a:solidFill>
                <a:latin typeface="Segoe UI"/>
              </a:rPr>
              <a:t>Correlate alerts
into incidents
and score 0-100</a:t>
            </a:r>
          </a:p>
        </p:txBody>
      </p:sp>
      <p:sp>
        <p:nvSpPr>
          <p:cNvPr id="22" name="TextBox 21"/>
          <p:cNvSpPr txBox="1"/>
          <p:nvPr/>
        </p:nvSpPr>
        <p:spPr>
          <a:xfrm>
            <a:off x="9299448" y="2514600"/>
            <a:ext cx="320040" cy="457200"/>
          </a:xfrm>
          <a:prstGeom prst="rect">
            <a:avLst/>
          </a:prstGeom>
          <a:noFill/>
        </p:spPr>
        <p:txBody>
          <a:bodyPr wrap="square">
            <a:spAutoFit/>
          </a:bodyPr>
          <a:lstStyle/>
          <a:p>
            <a:pPr algn="ctr"/>
            <a:r>
              <a:rPr sz="2400" b="1">
                <a:solidFill>
                  <a:srgbClr val="38BDF8"/>
                </a:solidFill>
                <a:latin typeface="Segoe UI"/>
              </a:rPr>
              <a:t>&gt;</a:t>
            </a:r>
          </a:p>
        </p:txBody>
      </p:sp>
      <p:sp>
        <p:nvSpPr>
          <p:cNvPr id="23" name="Rectangle 22"/>
          <p:cNvSpPr/>
          <p:nvPr/>
        </p:nvSpPr>
        <p:spPr>
          <a:xfrm>
            <a:off x="9464040" y="2011680"/>
            <a:ext cx="2103120" cy="1371600"/>
          </a:xfrm>
          <a:prstGeom prst="rect">
            <a:avLst/>
          </a:prstGeom>
          <a:solidFill>
            <a:srgbClr val="F59E0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55480" y="2084832"/>
            <a:ext cx="1920240" cy="411480"/>
          </a:xfrm>
          <a:prstGeom prst="rect">
            <a:avLst/>
          </a:prstGeom>
          <a:noFill/>
        </p:spPr>
        <p:txBody>
          <a:bodyPr wrap="square">
            <a:spAutoFit/>
          </a:bodyPr>
          <a:lstStyle/>
          <a:p>
            <a:pPr algn="ctr"/>
            <a:r>
              <a:rPr sz="1400" b="1">
                <a:solidFill>
                  <a:srgbClr val="F8FAFC"/>
                </a:solidFill>
                <a:latin typeface="Segoe UI"/>
              </a:rPr>
              <a:t>app.py</a:t>
            </a:r>
          </a:p>
        </p:txBody>
      </p:sp>
      <p:sp>
        <p:nvSpPr>
          <p:cNvPr id="25" name="TextBox 24"/>
          <p:cNvSpPr txBox="1"/>
          <p:nvPr/>
        </p:nvSpPr>
        <p:spPr>
          <a:xfrm>
            <a:off x="9537192" y="2514600"/>
            <a:ext cx="1956816" cy="777240"/>
          </a:xfrm>
          <a:prstGeom prst="rect">
            <a:avLst/>
          </a:prstGeom>
          <a:noFill/>
        </p:spPr>
        <p:txBody>
          <a:bodyPr wrap="square">
            <a:spAutoFit/>
          </a:bodyPr>
          <a:lstStyle/>
          <a:p>
            <a:pPr algn="ctr"/>
            <a:r>
              <a:rPr sz="1200" b="0">
                <a:solidFill>
                  <a:srgbClr val="F8FAFC"/>
                </a:solidFill>
                <a:latin typeface="Segoe UI"/>
              </a:rPr>
              <a:t>Streamlit
dashboard
5 tabs</a:t>
            </a:r>
          </a:p>
        </p:txBody>
      </p:sp>
      <p:sp>
        <p:nvSpPr>
          <p:cNvPr id="26" name="TextBox 25"/>
          <p:cNvSpPr txBox="1"/>
          <p:nvPr/>
        </p:nvSpPr>
        <p:spPr>
          <a:xfrm>
            <a:off x="457200" y="3566160"/>
            <a:ext cx="11274552" cy="457200"/>
          </a:xfrm>
          <a:prstGeom prst="rect">
            <a:avLst/>
          </a:prstGeom>
          <a:noFill/>
        </p:spPr>
        <p:txBody>
          <a:bodyPr wrap="square">
            <a:spAutoFit/>
          </a:bodyPr>
          <a:lstStyle/>
          <a:p>
            <a:pPr algn="ctr"/>
            <a:r>
              <a:rPr sz="1300" b="0">
                <a:solidFill>
                  <a:srgbClr val="94A3B8"/>
                </a:solidFill>
                <a:latin typeface="Segoe UI"/>
              </a:rPr>
              <a:t>Total: 1,671 lines across 9 files   |   Python 3.12   |   No external APIs   |   No machine learning</a:t>
            </a:r>
          </a:p>
        </p:txBody>
      </p:sp>
      <p:sp>
        <p:nvSpPr>
          <p:cNvPr id="27" name="Rectangle 26"/>
          <p:cNvSpPr/>
          <p:nvPr/>
        </p:nvSpPr>
        <p:spPr>
          <a:xfrm>
            <a:off x="457200" y="4114800"/>
            <a:ext cx="11274552" cy="24688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206240"/>
            <a:ext cx="11091672" cy="320040"/>
          </a:xfrm>
          <a:prstGeom prst="rect">
            <a:avLst/>
          </a:prstGeom>
          <a:noFill/>
        </p:spPr>
        <p:txBody>
          <a:bodyPr wrap="square">
            <a:spAutoFit/>
          </a:bodyPr>
          <a:lstStyle/>
          <a:p>
            <a:pPr algn="l"/>
            <a:r>
              <a:rPr sz="1200" b="1">
                <a:solidFill>
                  <a:srgbClr val="38BDF8"/>
                </a:solidFill>
                <a:latin typeface="Segoe UI"/>
              </a:rPr>
              <a:t>Module Summary (file: lines)</a:t>
            </a:r>
          </a:p>
        </p:txBody>
      </p:sp>
      <p:sp>
        <p:nvSpPr>
          <p:cNvPr id="29" name="TextBox 28"/>
          <p:cNvSpPr txBox="1"/>
          <p:nvPr/>
        </p:nvSpPr>
        <p:spPr>
          <a:xfrm>
            <a:off x="548640" y="4572000"/>
            <a:ext cx="11091672" cy="1645920"/>
          </a:xfrm>
          <a:prstGeom prst="rect">
            <a:avLst/>
          </a:prstGeom>
          <a:noFill/>
        </p:spPr>
        <p:txBody>
          <a:bodyPr wrap="square">
            <a:spAutoFit/>
          </a:bodyPr>
          <a:lstStyle/>
          <a:p>
            <a:pPr algn="l"/>
            <a:r>
              <a:rPr sz="1200" b="0">
                <a:solidFill>
                  <a:srgbClr val="94A3B8"/>
                </a:solidFill>
                <a:latin typeface="Segoe UI"/>
              </a:rPr>
              <a:t>config.py (67)   |   loader.py (51)   |   detectors.py (134)   |   incidents.py (252)   |   evaluation.py (46)
synthetic.py (240)   |   graph.py (144)   |   app.py (534)   |   tests/test_netsleuth.py (203)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Detection Rules</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Three simple counting rules — each explainable in one sentence</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560320" cy="4114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2560320" cy="320040"/>
          </a:xfrm>
          <a:prstGeom prst="rect">
            <a:avLst/>
          </a:prstGeom>
          <a:noFill/>
        </p:spPr>
        <p:txBody>
          <a:bodyPr wrap="square">
            <a:spAutoFit/>
          </a:bodyPr>
          <a:lstStyle/>
          <a:p>
            <a:pPr algn="l"/>
            <a:r>
              <a:rPr sz="1200" b="1">
                <a:solidFill>
                  <a:srgbClr val="38BDF8"/>
                </a:solidFill>
                <a:latin typeface="Segoe UI"/>
              </a:rPr>
              <a:t>Rule</a:t>
            </a:r>
          </a:p>
        </p:txBody>
      </p:sp>
      <p:sp>
        <p:nvSpPr>
          <p:cNvPr id="9" name="Rectangle 8"/>
          <p:cNvSpPr/>
          <p:nvPr/>
        </p:nvSpPr>
        <p:spPr>
          <a:xfrm>
            <a:off x="2971800" y="1417320"/>
            <a:ext cx="1097280" cy="4114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463040"/>
            <a:ext cx="1097280" cy="320040"/>
          </a:xfrm>
          <a:prstGeom prst="rect">
            <a:avLst/>
          </a:prstGeom>
          <a:noFill/>
        </p:spPr>
        <p:txBody>
          <a:bodyPr wrap="square">
            <a:spAutoFit/>
          </a:bodyPr>
          <a:lstStyle/>
          <a:p>
            <a:pPr algn="l"/>
            <a:r>
              <a:rPr sz="1200" b="1">
                <a:solidFill>
                  <a:srgbClr val="38BDF8"/>
                </a:solidFill>
                <a:latin typeface="Segoe UI"/>
              </a:rPr>
              <a:t>MITRE ID</a:t>
            </a:r>
          </a:p>
        </p:txBody>
      </p:sp>
      <p:sp>
        <p:nvSpPr>
          <p:cNvPr id="11" name="Rectangle 10"/>
          <p:cNvSpPr/>
          <p:nvPr/>
        </p:nvSpPr>
        <p:spPr>
          <a:xfrm>
            <a:off x="4114800" y="1417320"/>
            <a:ext cx="3474720" cy="4114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1463040"/>
            <a:ext cx="3474720" cy="320040"/>
          </a:xfrm>
          <a:prstGeom prst="rect">
            <a:avLst/>
          </a:prstGeom>
          <a:noFill/>
        </p:spPr>
        <p:txBody>
          <a:bodyPr wrap="square">
            <a:spAutoFit/>
          </a:bodyPr>
          <a:lstStyle/>
          <a:p>
            <a:pPr algn="l"/>
            <a:r>
              <a:rPr sz="1200" b="1">
                <a:solidFill>
                  <a:srgbClr val="38BDF8"/>
                </a:solidFill>
                <a:latin typeface="Segoe UI"/>
              </a:rPr>
              <a:t>Condition</a:t>
            </a:r>
          </a:p>
        </p:txBody>
      </p:sp>
      <p:sp>
        <p:nvSpPr>
          <p:cNvPr id="13" name="Rectangle 12"/>
          <p:cNvSpPr/>
          <p:nvPr/>
        </p:nvSpPr>
        <p:spPr>
          <a:xfrm>
            <a:off x="7635240" y="1417320"/>
            <a:ext cx="1371600" cy="4114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463040"/>
            <a:ext cx="1371600" cy="320040"/>
          </a:xfrm>
          <a:prstGeom prst="rect">
            <a:avLst/>
          </a:prstGeom>
          <a:noFill/>
        </p:spPr>
        <p:txBody>
          <a:bodyPr wrap="square">
            <a:spAutoFit/>
          </a:bodyPr>
          <a:lstStyle/>
          <a:p>
            <a:pPr algn="l"/>
            <a:r>
              <a:rPr sz="1200" b="1">
                <a:solidFill>
                  <a:srgbClr val="38BDF8"/>
                </a:solidFill>
                <a:latin typeface="Segoe UI"/>
              </a:rPr>
              <a:t>Severity</a:t>
            </a:r>
          </a:p>
        </p:txBody>
      </p:sp>
      <p:sp>
        <p:nvSpPr>
          <p:cNvPr id="15" name="Rectangle 14"/>
          <p:cNvSpPr/>
          <p:nvPr/>
        </p:nvSpPr>
        <p:spPr>
          <a:xfrm>
            <a:off x="9052560" y="1417320"/>
            <a:ext cx="1371600" cy="4114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463040"/>
            <a:ext cx="1371600" cy="320040"/>
          </a:xfrm>
          <a:prstGeom prst="rect">
            <a:avLst/>
          </a:prstGeom>
          <a:noFill/>
        </p:spPr>
        <p:txBody>
          <a:bodyPr wrap="square">
            <a:spAutoFit/>
          </a:bodyPr>
          <a:lstStyle/>
          <a:p>
            <a:pPr algn="l"/>
            <a:r>
              <a:rPr sz="1200" b="1">
                <a:solidFill>
                  <a:srgbClr val="38BDF8"/>
                </a:solidFill>
                <a:latin typeface="Segoe UI"/>
              </a:rPr>
              <a:t>Base Score</a:t>
            </a:r>
          </a:p>
        </p:txBody>
      </p:sp>
      <p:sp>
        <p:nvSpPr>
          <p:cNvPr id="17" name="Rectangle 16"/>
          <p:cNvSpPr/>
          <p:nvPr/>
        </p:nvSpPr>
        <p:spPr>
          <a:xfrm>
            <a:off x="365760" y="1874519"/>
            <a:ext cx="256032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1947671"/>
            <a:ext cx="2560320" cy="658368"/>
          </a:xfrm>
          <a:prstGeom prst="rect">
            <a:avLst/>
          </a:prstGeom>
          <a:noFill/>
        </p:spPr>
        <p:txBody>
          <a:bodyPr wrap="square">
            <a:spAutoFit/>
          </a:bodyPr>
          <a:lstStyle/>
          <a:p>
            <a:pPr algn="l"/>
            <a:r>
              <a:rPr sz="1300" b="0">
                <a:solidFill>
                  <a:srgbClr val="F8FAFC"/>
                </a:solidFill>
                <a:latin typeface="Segoe UI"/>
              </a:rPr>
              <a:t>Rule 1 — Port Scan</a:t>
            </a:r>
          </a:p>
        </p:txBody>
      </p:sp>
      <p:sp>
        <p:nvSpPr>
          <p:cNvPr id="19" name="Rectangle 18"/>
          <p:cNvSpPr/>
          <p:nvPr/>
        </p:nvSpPr>
        <p:spPr>
          <a:xfrm>
            <a:off x="2971800" y="1874519"/>
            <a:ext cx="109728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7520" y="1947671"/>
            <a:ext cx="1097280" cy="658368"/>
          </a:xfrm>
          <a:prstGeom prst="rect">
            <a:avLst/>
          </a:prstGeom>
          <a:noFill/>
        </p:spPr>
        <p:txBody>
          <a:bodyPr wrap="square">
            <a:spAutoFit/>
          </a:bodyPr>
          <a:lstStyle/>
          <a:p>
            <a:pPr algn="l"/>
            <a:r>
              <a:rPr sz="1300" b="0">
                <a:solidFill>
                  <a:srgbClr val="F8FAFC"/>
                </a:solidFill>
                <a:latin typeface="Segoe UI"/>
              </a:rPr>
              <a:t>T1046</a:t>
            </a:r>
          </a:p>
        </p:txBody>
      </p:sp>
      <p:sp>
        <p:nvSpPr>
          <p:cNvPr id="21" name="Rectangle 20"/>
          <p:cNvSpPr/>
          <p:nvPr/>
        </p:nvSpPr>
        <p:spPr>
          <a:xfrm>
            <a:off x="4114800" y="1874519"/>
            <a:ext cx="347472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0520" y="1947671"/>
            <a:ext cx="3474720" cy="658368"/>
          </a:xfrm>
          <a:prstGeom prst="rect">
            <a:avLst/>
          </a:prstGeom>
          <a:noFill/>
        </p:spPr>
        <p:txBody>
          <a:bodyPr wrap="square">
            <a:spAutoFit/>
          </a:bodyPr>
          <a:lstStyle/>
          <a:p>
            <a:pPr algn="l"/>
            <a:r>
              <a:rPr sz="1300" b="0">
                <a:solidFill>
                  <a:srgbClr val="F8FAFC"/>
                </a:solidFill>
                <a:latin typeface="Segoe UI"/>
              </a:rPr>
              <a:t>&gt;= 10 distinct ports
on one host in 60 s</a:t>
            </a:r>
          </a:p>
        </p:txBody>
      </p:sp>
      <p:sp>
        <p:nvSpPr>
          <p:cNvPr id="23" name="Rectangle 22"/>
          <p:cNvSpPr/>
          <p:nvPr/>
        </p:nvSpPr>
        <p:spPr>
          <a:xfrm>
            <a:off x="7635240" y="1874519"/>
            <a:ext cx="137160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947671"/>
            <a:ext cx="1371600" cy="658368"/>
          </a:xfrm>
          <a:prstGeom prst="rect">
            <a:avLst/>
          </a:prstGeom>
          <a:noFill/>
        </p:spPr>
        <p:txBody>
          <a:bodyPr wrap="square">
            <a:spAutoFit/>
          </a:bodyPr>
          <a:lstStyle/>
          <a:p>
            <a:pPr algn="l"/>
            <a:r>
              <a:rPr sz="1300" b="0">
                <a:solidFill>
                  <a:srgbClr val="F59E0B"/>
                </a:solidFill>
                <a:latin typeface="Segoe UI"/>
              </a:rPr>
              <a:t>MEDIUM</a:t>
            </a:r>
          </a:p>
        </p:txBody>
      </p:sp>
      <p:sp>
        <p:nvSpPr>
          <p:cNvPr id="25" name="Rectangle 24"/>
          <p:cNvSpPr/>
          <p:nvPr/>
        </p:nvSpPr>
        <p:spPr>
          <a:xfrm>
            <a:off x="9052560" y="1874519"/>
            <a:ext cx="137160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1947671"/>
            <a:ext cx="1371600" cy="658368"/>
          </a:xfrm>
          <a:prstGeom prst="rect">
            <a:avLst/>
          </a:prstGeom>
          <a:noFill/>
        </p:spPr>
        <p:txBody>
          <a:bodyPr wrap="square">
            <a:spAutoFit/>
          </a:bodyPr>
          <a:lstStyle/>
          <a:p>
            <a:pPr algn="l"/>
            <a:r>
              <a:rPr sz="1300" b="0">
                <a:solidFill>
                  <a:srgbClr val="F8FAFC"/>
                </a:solidFill>
                <a:latin typeface="Segoe UI"/>
              </a:rPr>
              <a:t>30</a:t>
            </a:r>
          </a:p>
        </p:txBody>
      </p:sp>
      <p:sp>
        <p:nvSpPr>
          <p:cNvPr id="27" name="Rectangle 26"/>
          <p:cNvSpPr/>
          <p:nvPr/>
        </p:nvSpPr>
        <p:spPr>
          <a:xfrm>
            <a:off x="365760" y="2788920"/>
            <a:ext cx="2560320" cy="80467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62072"/>
            <a:ext cx="2560320" cy="658368"/>
          </a:xfrm>
          <a:prstGeom prst="rect">
            <a:avLst/>
          </a:prstGeom>
          <a:noFill/>
        </p:spPr>
        <p:txBody>
          <a:bodyPr wrap="square">
            <a:spAutoFit/>
          </a:bodyPr>
          <a:lstStyle/>
          <a:p>
            <a:pPr algn="l"/>
            <a:r>
              <a:rPr sz="1300" b="0">
                <a:solidFill>
                  <a:srgbClr val="F8FAFC"/>
                </a:solidFill>
                <a:latin typeface="Segoe UI"/>
              </a:rPr>
              <a:t>Rule 2 — Host Scan</a:t>
            </a:r>
          </a:p>
        </p:txBody>
      </p:sp>
      <p:sp>
        <p:nvSpPr>
          <p:cNvPr id="29" name="Rectangle 28"/>
          <p:cNvSpPr/>
          <p:nvPr/>
        </p:nvSpPr>
        <p:spPr>
          <a:xfrm>
            <a:off x="2971800" y="2788920"/>
            <a:ext cx="1097280" cy="80467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17520" y="2862072"/>
            <a:ext cx="1097280" cy="658368"/>
          </a:xfrm>
          <a:prstGeom prst="rect">
            <a:avLst/>
          </a:prstGeom>
          <a:noFill/>
        </p:spPr>
        <p:txBody>
          <a:bodyPr wrap="square">
            <a:spAutoFit/>
          </a:bodyPr>
          <a:lstStyle/>
          <a:p>
            <a:pPr algn="l"/>
            <a:r>
              <a:rPr sz="1300" b="0">
                <a:solidFill>
                  <a:srgbClr val="F8FAFC"/>
                </a:solidFill>
                <a:latin typeface="Segoe UI"/>
              </a:rPr>
              <a:t>T1018</a:t>
            </a:r>
          </a:p>
        </p:txBody>
      </p:sp>
      <p:sp>
        <p:nvSpPr>
          <p:cNvPr id="31" name="Rectangle 30"/>
          <p:cNvSpPr/>
          <p:nvPr/>
        </p:nvSpPr>
        <p:spPr>
          <a:xfrm>
            <a:off x="4114800" y="2788920"/>
            <a:ext cx="3474720" cy="80467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0520" y="2862072"/>
            <a:ext cx="3474720" cy="658368"/>
          </a:xfrm>
          <a:prstGeom prst="rect">
            <a:avLst/>
          </a:prstGeom>
          <a:noFill/>
        </p:spPr>
        <p:txBody>
          <a:bodyPr wrap="square">
            <a:spAutoFit/>
          </a:bodyPr>
          <a:lstStyle/>
          <a:p>
            <a:pPr algn="l"/>
            <a:r>
              <a:rPr sz="1300" b="0">
                <a:solidFill>
                  <a:srgbClr val="F8FAFC"/>
                </a:solidFill>
                <a:latin typeface="Segoe UI"/>
              </a:rPr>
              <a:t>&gt;= 5 distinct hosts
on one port in 60 s</a:t>
            </a:r>
          </a:p>
        </p:txBody>
      </p:sp>
      <p:sp>
        <p:nvSpPr>
          <p:cNvPr id="33" name="Rectangle 32"/>
          <p:cNvSpPr/>
          <p:nvPr/>
        </p:nvSpPr>
        <p:spPr>
          <a:xfrm>
            <a:off x="7635240" y="2788920"/>
            <a:ext cx="1371600" cy="80467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2862072"/>
            <a:ext cx="1371600" cy="658368"/>
          </a:xfrm>
          <a:prstGeom prst="rect">
            <a:avLst/>
          </a:prstGeom>
          <a:noFill/>
        </p:spPr>
        <p:txBody>
          <a:bodyPr wrap="square">
            <a:spAutoFit/>
          </a:bodyPr>
          <a:lstStyle/>
          <a:p>
            <a:pPr algn="l"/>
            <a:r>
              <a:rPr sz="1300" b="0">
                <a:solidFill>
                  <a:srgbClr val="F59E0B"/>
                </a:solidFill>
                <a:latin typeface="Segoe UI"/>
              </a:rPr>
              <a:t>MEDIUM</a:t>
            </a:r>
          </a:p>
        </p:txBody>
      </p:sp>
      <p:sp>
        <p:nvSpPr>
          <p:cNvPr id="35" name="Rectangle 34"/>
          <p:cNvSpPr/>
          <p:nvPr/>
        </p:nvSpPr>
        <p:spPr>
          <a:xfrm>
            <a:off x="9052560" y="2788920"/>
            <a:ext cx="1371600" cy="80467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98280" y="2862072"/>
            <a:ext cx="1371600" cy="658368"/>
          </a:xfrm>
          <a:prstGeom prst="rect">
            <a:avLst/>
          </a:prstGeom>
          <a:noFill/>
        </p:spPr>
        <p:txBody>
          <a:bodyPr wrap="square">
            <a:spAutoFit/>
          </a:bodyPr>
          <a:lstStyle/>
          <a:p>
            <a:pPr algn="l"/>
            <a:r>
              <a:rPr sz="1300" b="0">
                <a:solidFill>
                  <a:srgbClr val="F8FAFC"/>
                </a:solidFill>
                <a:latin typeface="Segoe UI"/>
              </a:rPr>
              <a:t>30</a:t>
            </a:r>
          </a:p>
        </p:txBody>
      </p:sp>
      <p:sp>
        <p:nvSpPr>
          <p:cNvPr id="37" name="Rectangle 36"/>
          <p:cNvSpPr/>
          <p:nvPr/>
        </p:nvSpPr>
        <p:spPr>
          <a:xfrm>
            <a:off x="365760" y="3703320"/>
            <a:ext cx="256032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776472"/>
            <a:ext cx="2560320" cy="658368"/>
          </a:xfrm>
          <a:prstGeom prst="rect">
            <a:avLst/>
          </a:prstGeom>
          <a:noFill/>
        </p:spPr>
        <p:txBody>
          <a:bodyPr wrap="square">
            <a:spAutoFit/>
          </a:bodyPr>
          <a:lstStyle/>
          <a:p>
            <a:pPr algn="l"/>
            <a:r>
              <a:rPr sz="1300" b="0">
                <a:solidFill>
                  <a:srgbClr val="F8FAFC"/>
                </a:solidFill>
                <a:latin typeface="Segoe UI"/>
              </a:rPr>
              <a:t>Rule 3 — Exfiltration</a:t>
            </a:r>
          </a:p>
        </p:txBody>
      </p:sp>
      <p:sp>
        <p:nvSpPr>
          <p:cNvPr id="39" name="Rectangle 38"/>
          <p:cNvSpPr/>
          <p:nvPr/>
        </p:nvSpPr>
        <p:spPr>
          <a:xfrm>
            <a:off x="2971800" y="3703320"/>
            <a:ext cx="109728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7520" y="3776472"/>
            <a:ext cx="1097280" cy="658368"/>
          </a:xfrm>
          <a:prstGeom prst="rect">
            <a:avLst/>
          </a:prstGeom>
          <a:noFill/>
        </p:spPr>
        <p:txBody>
          <a:bodyPr wrap="square">
            <a:spAutoFit/>
          </a:bodyPr>
          <a:lstStyle/>
          <a:p>
            <a:pPr algn="l"/>
            <a:r>
              <a:rPr sz="1300" b="0">
                <a:solidFill>
                  <a:srgbClr val="F8FAFC"/>
                </a:solidFill>
                <a:latin typeface="Segoe UI"/>
              </a:rPr>
              <a:t>T1048</a:t>
            </a:r>
          </a:p>
        </p:txBody>
      </p:sp>
      <p:sp>
        <p:nvSpPr>
          <p:cNvPr id="41" name="Rectangle 40"/>
          <p:cNvSpPr/>
          <p:nvPr/>
        </p:nvSpPr>
        <p:spPr>
          <a:xfrm>
            <a:off x="4114800" y="3703320"/>
            <a:ext cx="347472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60520" y="3776472"/>
            <a:ext cx="3474720" cy="658368"/>
          </a:xfrm>
          <a:prstGeom prst="rect">
            <a:avLst/>
          </a:prstGeom>
          <a:noFill/>
        </p:spPr>
        <p:txBody>
          <a:bodyPr wrap="square">
            <a:spAutoFit/>
          </a:bodyPr>
          <a:lstStyle/>
          <a:p>
            <a:pPr algn="l"/>
            <a:r>
              <a:rPr sz="1300" b="0">
                <a:solidFill>
                  <a:srgbClr val="F8FAFC"/>
                </a:solidFill>
                <a:latin typeface="Segoe UI"/>
              </a:rPr>
              <a:t>&gt;= 500,000 bytes outbound
to one host in 120 s</a:t>
            </a:r>
          </a:p>
        </p:txBody>
      </p:sp>
      <p:sp>
        <p:nvSpPr>
          <p:cNvPr id="43" name="Rectangle 42"/>
          <p:cNvSpPr/>
          <p:nvPr/>
        </p:nvSpPr>
        <p:spPr>
          <a:xfrm>
            <a:off x="7635240" y="3703320"/>
            <a:ext cx="137160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3776472"/>
            <a:ext cx="1371600" cy="658368"/>
          </a:xfrm>
          <a:prstGeom prst="rect">
            <a:avLst/>
          </a:prstGeom>
          <a:noFill/>
        </p:spPr>
        <p:txBody>
          <a:bodyPr wrap="square">
            <a:spAutoFit/>
          </a:bodyPr>
          <a:lstStyle/>
          <a:p>
            <a:pPr algn="l"/>
            <a:r>
              <a:rPr sz="1300" b="0">
                <a:solidFill>
                  <a:srgbClr val="EF4444"/>
                </a:solidFill>
                <a:latin typeface="Segoe UI"/>
              </a:rPr>
              <a:t>HIGH</a:t>
            </a:r>
          </a:p>
        </p:txBody>
      </p:sp>
      <p:sp>
        <p:nvSpPr>
          <p:cNvPr id="45" name="Rectangle 44"/>
          <p:cNvSpPr/>
          <p:nvPr/>
        </p:nvSpPr>
        <p:spPr>
          <a:xfrm>
            <a:off x="9052560" y="3703320"/>
            <a:ext cx="1371600" cy="80467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8280" y="3776472"/>
            <a:ext cx="1371600" cy="658368"/>
          </a:xfrm>
          <a:prstGeom prst="rect">
            <a:avLst/>
          </a:prstGeom>
          <a:noFill/>
        </p:spPr>
        <p:txBody>
          <a:bodyPr wrap="square">
            <a:spAutoFit/>
          </a:bodyPr>
          <a:lstStyle/>
          <a:p>
            <a:pPr algn="l"/>
            <a:r>
              <a:rPr sz="1300" b="0">
                <a:solidFill>
                  <a:srgbClr val="F8FAFC"/>
                </a:solidFill>
                <a:latin typeface="Segoe UI"/>
              </a:rPr>
              <a:t>50</a:t>
            </a:r>
          </a:p>
        </p:txBody>
      </p:sp>
      <p:sp>
        <p:nvSpPr>
          <p:cNvPr id="47" name="Rectangle 46"/>
          <p:cNvSpPr/>
          <p:nvPr/>
        </p:nvSpPr>
        <p:spPr>
          <a:xfrm>
            <a:off x="365760" y="4754880"/>
            <a:ext cx="11274552" cy="17830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846320"/>
            <a:ext cx="11091672" cy="320040"/>
          </a:xfrm>
          <a:prstGeom prst="rect">
            <a:avLst/>
          </a:prstGeom>
          <a:noFill/>
        </p:spPr>
        <p:txBody>
          <a:bodyPr wrap="square">
            <a:spAutoFit/>
          </a:bodyPr>
          <a:lstStyle/>
          <a:p>
            <a:pPr algn="l"/>
            <a:r>
              <a:rPr sz="1300" b="1">
                <a:solidFill>
                  <a:srgbClr val="38BDF8"/>
                </a:solidFill>
                <a:latin typeface="Segoe UI"/>
              </a:rPr>
              <a:t>How the Sliding Window Works</a:t>
            </a:r>
          </a:p>
        </p:txBody>
      </p:sp>
      <p:sp>
        <p:nvSpPr>
          <p:cNvPr id="49" name="TextBox 48"/>
          <p:cNvSpPr txBox="1"/>
          <p:nvPr/>
        </p:nvSpPr>
        <p:spPr>
          <a:xfrm>
            <a:off x="457200" y="5212080"/>
            <a:ext cx="11091672" cy="1234440"/>
          </a:xfrm>
          <a:prstGeom prst="rect">
            <a:avLst/>
          </a:prstGeom>
          <a:noFill/>
        </p:spPr>
        <p:txBody>
          <a:bodyPr wrap="square">
            <a:spAutoFit/>
          </a:bodyPr>
          <a:lstStyle/>
          <a:p>
            <a:pPr algn="l"/>
            <a:r>
              <a:rPr sz="1200" b="0">
                <a:solidFill>
                  <a:srgbClr val="94A3B8"/>
                </a:solidFill>
                <a:latin typeface="Segoe UI"/>
              </a:rPr>
              <a:t>For each (source IP, destination) pair, flow records are sorted by time. The detector picks the first row as the window start and collects all rows within the time limit (60 s or 120 s). If the distinct count meets the threshold, an alert is raised and the pointer jumps past all collected rows. Otherwise, the pointer moves one row forward and the window shifts.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Incident Correlation and Risk Scoring</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Every point is explained to the analyst</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00" cy="36576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5303520" cy="365760"/>
          </a:xfrm>
          <a:prstGeom prst="rect">
            <a:avLst/>
          </a:prstGeom>
          <a:noFill/>
        </p:spPr>
        <p:txBody>
          <a:bodyPr wrap="square">
            <a:spAutoFit/>
          </a:bodyPr>
          <a:lstStyle/>
          <a:p>
            <a:pPr algn="l"/>
            <a:r>
              <a:rPr sz="1500" b="1">
                <a:solidFill>
                  <a:srgbClr val="38BDF8"/>
                </a:solidFill>
                <a:latin typeface="Segoe UI"/>
              </a:rPr>
              <a:t>Score Formula</a:t>
            </a:r>
          </a:p>
        </p:txBody>
      </p:sp>
      <p:sp>
        <p:nvSpPr>
          <p:cNvPr id="9" name="TextBox 8"/>
          <p:cNvSpPr txBox="1"/>
          <p:nvPr/>
        </p:nvSpPr>
        <p:spPr>
          <a:xfrm>
            <a:off x="457200" y="1874519"/>
            <a:ext cx="5303520" cy="3017520"/>
          </a:xfrm>
          <a:prstGeom prst="rect">
            <a:avLst/>
          </a:prstGeom>
          <a:noFill/>
        </p:spPr>
        <p:txBody>
          <a:bodyPr wrap="square">
            <a:spAutoFit/>
          </a:bodyPr>
          <a:lstStyle/>
          <a:p>
            <a:pPr algn="l"/>
            <a:r>
              <a:rPr sz="1400" b="0">
                <a:solidFill>
                  <a:srgbClr val="F8FAFC"/>
                </a:solidFill>
                <a:latin typeface="Segoe UI"/>
              </a:rPr>
              <a:t>score = min(100, base + extra + volume)
base:    LOW=10   MEDIUM=30   HIGH=50
extra:   +10 pts per additional alert
         beyond the first
volume:  +20 if exfil &gt;= 5 MB
         +10 if exfil &gt;= 500 KB</a:t>
            </a:r>
          </a:p>
        </p:txBody>
      </p:sp>
      <p:sp>
        <p:nvSpPr>
          <p:cNvPr id="10" name="Rectangle 9"/>
          <p:cNvSpPr/>
          <p:nvPr/>
        </p:nvSpPr>
        <p:spPr>
          <a:xfrm>
            <a:off x="365760" y="5120640"/>
            <a:ext cx="5486400" cy="141732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212080"/>
            <a:ext cx="5303520" cy="320040"/>
          </a:xfrm>
          <a:prstGeom prst="rect">
            <a:avLst/>
          </a:prstGeom>
          <a:noFill/>
        </p:spPr>
        <p:txBody>
          <a:bodyPr wrap="square">
            <a:spAutoFit/>
          </a:bodyPr>
          <a:lstStyle/>
          <a:p>
            <a:pPr algn="l"/>
            <a:r>
              <a:rPr sz="1300" b="1">
                <a:solidFill>
                  <a:srgbClr val="F59E0B"/>
                </a:solidFill>
                <a:latin typeface="Segoe UI"/>
              </a:rPr>
              <a:t>Incident Correlation Rule</a:t>
            </a:r>
          </a:p>
        </p:txBody>
      </p:sp>
      <p:sp>
        <p:nvSpPr>
          <p:cNvPr id="12" name="TextBox 11"/>
          <p:cNvSpPr txBox="1"/>
          <p:nvPr/>
        </p:nvSpPr>
        <p:spPr>
          <a:xfrm>
            <a:off x="457200" y="5577840"/>
            <a:ext cx="5303520" cy="822960"/>
          </a:xfrm>
          <a:prstGeom prst="rect">
            <a:avLst/>
          </a:prstGeom>
          <a:noFill/>
        </p:spPr>
        <p:txBody>
          <a:bodyPr wrap="square">
            <a:spAutoFit/>
          </a:bodyPr>
          <a:lstStyle/>
          <a:p>
            <a:pPr algn="l"/>
            <a:r>
              <a:rPr sz="1300" b="0">
                <a:solidFill>
                  <a:srgbClr val="F8FAFC"/>
                </a:solidFill>
                <a:latin typeface="Segoe UI"/>
              </a:rPr>
              <a:t>Alerts from the same source IP merge into one incident
if the gap between alerts is &lt;= 300 seconds (5 minutes).</a:t>
            </a:r>
          </a:p>
        </p:txBody>
      </p:sp>
      <p:sp>
        <p:nvSpPr>
          <p:cNvPr id="13" name="Rectangle 12"/>
          <p:cNvSpPr/>
          <p:nvPr/>
        </p:nvSpPr>
        <p:spPr>
          <a:xfrm>
            <a:off x="6217920" y="1371600"/>
            <a:ext cx="2011680"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417320"/>
            <a:ext cx="1920240" cy="347472"/>
          </a:xfrm>
          <a:prstGeom prst="rect">
            <a:avLst/>
          </a:prstGeom>
          <a:noFill/>
        </p:spPr>
        <p:txBody>
          <a:bodyPr wrap="square">
            <a:spAutoFit/>
          </a:bodyPr>
          <a:lstStyle/>
          <a:p>
            <a:pPr algn="ctr"/>
            <a:r>
              <a:rPr sz="1500" b="1">
                <a:solidFill>
                  <a:srgbClr val="F8FAFC"/>
                </a:solidFill>
                <a:latin typeface="Segoe UI"/>
              </a:rPr>
              <a:t>CRITICAL</a:t>
            </a:r>
          </a:p>
        </p:txBody>
      </p:sp>
      <p:sp>
        <p:nvSpPr>
          <p:cNvPr id="15" name="TextBox 14"/>
          <p:cNvSpPr txBox="1"/>
          <p:nvPr/>
        </p:nvSpPr>
        <p:spPr>
          <a:xfrm>
            <a:off x="6263640" y="1755648"/>
            <a:ext cx="1920240" cy="320040"/>
          </a:xfrm>
          <a:prstGeom prst="rect">
            <a:avLst/>
          </a:prstGeom>
          <a:noFill/>
        </p:spPr>
        <p:txBody>
          <a:bodyPr wrap="square">
            <a:spAutoFit/>
          </a:bodyPr>
          <a:lstStyle/>
          <a:p>
            <a:pPr algn="ctr"/>
            <a:r>
              <a:rPr sz="1300" b="0">
                <a:solidFill>
                  <a:srgbClr val="F8FAFC"/>
                </a:solidFill>
                <a:latin typeface="Segoe UI"/>
              </a:rPr>
              <a:t>80 – 100</a:t>
            </a:r>
          </a:p>
        </p:txBody>
      </p:sp>
      <p:sp>
        <p:nvSpPr>
          <p:cNvPr id="16" name="Rectangle 15"/>
          <p:cNvSpPr/>
          <p:nvPr/>
        </p:nvSpPr>
        <p:spPr>
          <a:xfrm>
            <a:off x="6217920" y="2286000"/>
            <a:ext cx="2011680" cy="7772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2331720"/>
            <a:ext cx="1920240" cy="347472"/>
          </a:xfrm>
          <a:prstGeom prst="rect">
            <a:avLst/>
          </a:prstGeom>
          <a:noFill/>
        </p:spPr>
        <p:txBody>
          <a:bodyPr wrap="square">
            <a:spAutoFit/>
          </a:bodyPr>
          <a:lstStyle/>
          <a:p>
            <a:pPr algn="ctr"/>
            <a:r>
              <a:rPr sz="1500" b="1">
                <a:solidFill>
                  <a:srgbClr val="F8FAFC"/>
                </a:solidFill>
                <a:latin typeface="Segoe UI"/>
              </a:rPr>
              <a:t>HIGH</a:t>
            </a:r>
          </a:p>
        </p:txBody>
      </p:sp>
      <p:sp>
        <p:nvSpPr>
          <p:cNvPr id="18" name="TextBox 17"/>
          <p:cNvSpPr txBox="1"/>
          <p:nvPr/>
        </p:nvSpPr>
        <p:spPr>
          <a:xfrm>
            <a:off x="6263640" y="2670048"/>
            <a:ext cx="1920240" cy="320040"/>
          </a:xfrm>
          <a:prstGeom prst="rect">
            <a:avLst/>
          </a:prstGeom>
          <a:noFill/>
        </p:spPr>
        <p:txBody>
          <a:bodyPr wrap="square">
            <a:spAutoFit/>
          </a:bodyPr>
          <a:lstStyle/>
          <a:p>
            <a:pPr algn="ctr"/>
            <a:r>
              <a:rPr sz="1300" b="0">
                <a:solidFill>
                  <a:srgbClr val="F8FAFC"/>
                </a:solidFill>
                <a:latin typeface="Segoe UI"/>
              </a:rPr>
              <a:t>60 – 79</a:t>
            </a:r>
          </a:p>
        </p:txBody>
      </p:sp>
      <p:sp>
        <p:nvSpPr>
          <p:cNvPr id="19" name="Rectangle 18"/>
          <p:cNvSpPr/>
          <p:nvPr/>
        </p:nvSpPr>
        <p:spPr>
          <a:xfrm>
            <a:off x="6217920" y="320040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246120"/>
            <a:ext cx="1920240" cy="347472"/>
          </a:xfrm>
          <a:prstGeom prst="rect">
            <a:avLst/>
          </a:prstGeom>
          <a:noFill/>
        </p:spPr>
        <p:txBody>
          <a:bodyPr wrap="square">
            <a:spAutoFit/>
          </a:bodyPr>
          <a:lstStyle/>
          <a:p>
            <a:pPr algn="ctr"/>
            <a:r>
              <a:rPr sz="1500" b="1">
                <a:solidFill>
                  <a:srgbClr val="F8FAFC"/>
                </a:solidFill>
                <a:latin typeface="Segoe UI"/>
              </a:rPr>
              <a:t>MEDIUM</a:t>
            </a:r>
          </a:p>
        </p:txBody>
      </p:sp>
      <p:sp>
        <p:nvSpPr>
          <p:cNvPr id="21" name="TextBox 20"/>
          <p:cNvSpPr txBox="1"/>
          <p:nvPr/>
        </p:nvSpPr>
        <p:spPr>
          <a:xfrm>
            <a:off x="6263640" y="3584448"/>
            <a:ext cx="1920240" cy="320040"/>
          </a:xfrm>
          <a:prstGeom prst="rect">
            <a:avLst/>
          </a:prstGeom>
          <a:noFill/>
        </p:spPr>
        <p:txBody>
          <a:bodyPr wrap="square">
            <a:spAutoFit/>
          </a:bodyPr>
          <a:lstStyle/>
          <a:p>
            <a:pPr algn="ctr"/>
            <a:r>
              <a:rPr sz="1300" b="0">
                <a:solidFill>
                  <a:srgbClr val="F8FAFC"/>
                </a:solidFill>
                <a:latin typeface="Segoe UI"/>
              </a:rPr>
              <a:t>30 – 59</a:t>
            </a:r>
          </a:p>
        </p:txBody>
      </p:sp>
      <p:sp>
        <p:nvSpPr>
          <p:cNvPr id="22" name="Rectangle 21"/>
          <p:cNvSpPr/>
          <p:nvPr/>
        </p:nvSpPr>
        <p:spPr>
          <a:xfrm>
            <a:off x="6217920" y="4114800"/>
            <a:ext cx="20116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4160520"/>
            <a:ext cx="1920240" cy="347472"/>
          </a:xfrm>
          <a:prstGeom prst="rect">
            <a:avLst/>
          </a:prstGeom>
          <a:noFill/>
        </p:spPr>
        <p:txBody>
          <a:bodyPr wrap="square">
            <a:spAutoFit/>
          </a:bodyPr>
          <a:lstStyle/>
          <a:p>
            <a:pPr algn="ctr"/>
            <a:r>
              <a:rPr sz="1500" b="1">
                <a:solidFill>
                  <a:srgbClr val="F8FAFC"/>
                </a:solidFill>
                <a:latin typeface="Segoe UI"/>
              </a:rPr>
              <a:t>LOW</a:t>
            </a:r>
          </a:p>
        </p:txBody>
      </p:sp>
      <p:sp>
        <p:nvSpPr>
          <p:cNvPr id="24" name="TextBox 23"/>
          <p:cNvSpPr txBox="1"/>
          <p:nvPr/>
        </p:nvSpPr>
        <p:spPr>
          <a:xfrm>
            <a:off x="6263640" y="4498848"/>
            <a:ext cx="1920240" cy="320040"/>
          </a:xfrm>
          <a:prstGeom prst="rect">
            <a:avLst/>
          </a:prstGeom>
          <a:noFill/>
        </p:spPr>
        <p:txBody>
          <a:bodyPr wrap="square">
            <a:spAutoFit/>
          </a:bodyPr>
          <a:lstStyle/>
          <a:p>
            <a:pPr algn="ctr"/>
            <a:r>
              <a:rPr sz="1300" b="0">
                <a:solidFill>
                  <a:srgbClr val="F8FAFC"/>
                </a:solidFill>
                <a:latin typeface="Segoe UI"/>
              </a:rPr>
              <a:t>0 – 29</a:t>
            </a:r>
          </a:p>
        </p:txBody>
      </p:sp>
      <p:sp>
        <p:nvSpPr>
          <p:cNvPr id="25" name="Rectangle 24"/>
          <p:cNvSpPr/>
          <p:nvPr/>
        </p:nvSpPr>
        <p:spPr>
          <a:xfrm>
            <a:off x="8412480" y="1371600"/>
            <a:ext cx="3474720" cy="3200400"/>
          </a:xfrm>
          <a:prstGeom prst="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1463040"/>
            <a:ext cx="3291840" cy="365760"/>
          </a:xfrm>
          <a:prstGeom prst="rect">
            <a:avLst/>
          </a:prstGeom>
          <a:noFill/>
        </p:spPr>
        <p:txBody>
          <a:bodyPr wrap="square">
            <a:spAutoFit/>
          </a:bodyPr>
          <a:lstStyle/>
          <a:p>
            <a:pPr algn="l"/>
            <a:r>
              <a:rPr sz="1100" b="1">
                <a:solidFill>
                  <a:srgbClr val="EF4444"/>
                </a:solidFill>
                <a:latin typeface="Segoe UI"/>
              </a:rPr>
              <a:t>Scenario 4 — Score Worked Example</a:t>
            </a:r>
          </a:p>
        </p:txBody>
      </p:sp>
      <p:sp>
        <p:nvSpPr>
          <p:cNvPr id="27" name="TextBox 26"/>
          <p:cNvSpPr txBox="1"/>
          <p:nvPr/>
        </p:nvSpPr>
        <p:spPr>
          <a:xfrm>
            <a:off x="8503920" y="1874519"/>
            <a:ext cx="3291840" cy="2560320"/>
          </a:xfrm>
          <a:prstGeom prst="rect">
            <a:avLst/>
          </a:prstGeom>
          <a:noFill/>
        </p:spPr>
        <p:txBody>
          <a:bodyPr wrap="square">
            <a:spAutoFit/>
          </a:bodyPr>
          <a:lstStyle/>
          <a:p>
            <a:pPr algn="l"/>
            <a:r>
              <a:rPr sz="1400" b="0">
                <a:solidFill>
                  <a:srgbClr val="F8FAFC"/>
                </a:solidFill>
                <a:latin typeface="Segoe UI"/>
              </a:rPr>
              <a:t>Highest severity: HIGH  -&gt; +50
Extra alerts (2):       -&gt; +20
Exfil 6.3 MB &gt;= 5 MB:  -&gt; +20
Total = min(100, 90) = 90
Level = CRITICAL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Benchmark Scenario Results</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Five synthetic test datasets, all with seed=42</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9857232" cy="41148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 y="1472184"/>
            <a:ext cx="3474720" cy="320040"/>
          </a:xfrm>
          <a:prstGeom prst="rect">
            <a:avLst/>
          </a:prstGeom>
          <a:noFill/>
        </p:spPr>
        <p:txBody>
          <a:bodyPr wrap="square">
            <a:spAutoFit/>
          </a:bodyPr>
          <a:lstStyle/>
          <a:p>
            <a:pPr algn="l"/>
            <a:r>
              <a:rPr sz="1200" b="1">
                <a:solidFill>
                  <a:srgbClr val="38BDF8"/>
                </a:solidFill>
                <a:latin typeface="Segoe UI"/>
              </a:rPr>
              <a:t>Scenario</a:t>
            </a:r>
          </a:p>
        </p:txBody>
      </p:sp>
      <p:sp>
        <p:nvSpPr>
          <p:cNvPr id="9" name="TextBox 8"/>
          <p:cNvSpPr txBox="1"/>
          <p:nvPr/>
        </p:nvSpPr>
        <p:spPr>
          <a:xfrm>
            <a:off x="3813048" y="1472184"/>
            <a:ext cx="914400" cy="320040"/>
          </a:xfrm>
          <a:prstGeom prst="rect">
            <a:avLst/>
          </a:prstGeom>
          <a:noFill/>
        </p:spPr>
        <p:txBody>
          <a:bodyPr wrap="square">
            <a:spAutoFit/>
          </a:bodyPr>
          <a:lstStyle/>
          <a:p>
            <a:pPr algn="l"/>
            <a:r>
              <a:rPr sz="1200" b="1">
                <a:solidFill>
                  <a:srgbClr val="38BDF8"/>
                </a:solidFill>
                <a:latin typeface="Segoe UI"/>
              </a:rPr>
              <a:t>Flows</a:t>
            </a:r>
          </a:p>
        </p:txBody>
      </p:sp>
      <p:sp>
        <p:nvSpPr>
          <p:cNvPr id="10" name="TextBox 9"/>
          <p:cNvSpPr txBox="1"/>
          <p:nvPr/>
        </p:nvSpPr>
        <p:spPr>
          <a:xfrm>
            <a:off x="4754880" y="1472184"/>
            <a:ext cx="914400" cy="320040"/>
          </a:xfrm>
          <a:prstGeom prst="rect">
            <a:avLst/>
          </a:prstGeom>
          <a:noFill/>
        </p:spPr>
        <p:txBody>
          <a:bodyPr wrap="square">
            <a:spAutoFit/>
          </a:bodyPr>
          <a:lstStyle/>
          <a:p>
            <a:pPr algn="l"/>
            <a:r>
              <a:rPr sz="1200" b="1">
                <a:solidFill>
                  <a:srgbClr val="38BDF8"/>
                </a:solidFill>
                <a:latin typeface="Segoe UI"/>
              </a:rPr>
              <a:t>Attack</a:t>
            </a:r>
          </a:p>
        </p:txBody>
      </p:sp>
      <p:sp>
        <p:nvSpPr>
          <p:cNvPr id="11" name="TextBox 10"/>
          <p:cNvSpPr txBox="1"/>
          <p:nvPr/>
        </p:nvSpPr>
        <p:spPr>
          <a:xfrm>
            <a:off x="5696712" y="1472184"/>
            <a:ext cx="914400" cy="320040"/>
          </a:xfrm>
          <a:prstGeom prst="rect">
            <a:avLst/>
          </a:prstGeom>
          <a:noFill/>
        </p:spPr>
        <p:txBody>
          <a:bodyPr wrap="square">
            <a:spAutoFit/>
          </a:bodyPr>
          <a:lstStyle/>
          <a:p>
            <a:pPr algn="l"/>
            <a:r>
              <a:rPr sz="1200" b="1">
                <a:solidFill>
                  <a:srgbClr val="38BDF8"/>
                </a:solidFill>
                <a:latin typeface="Segoe UI"/>
              </a:rPr>
              <a:t>Alerts</a:t>
            </a:r>
          </a:p>
        </p:txBody>
      </p:sp>
      <p:sp>
        <p:nvSpPr>
          <p:cNvPr id="12" name="TextBox 11"/>
          <p:cNvSpPr txBox="1"/>
          <p:nvPr/>
        </p:nvSpPr>
        <p:spPr>
          <a:xfrm>
            <a:off x="6638544" y="1472184"/>
            <a:ext cx="1097280" cy="320040"/>
          </a:xfrm>
          <a:prstGeom prst="rect">
            <a:avLst/>
          </a:prstGeom>
          <a:noFill/>
        </p:spPr>
        <p:txBody>
          <a:bodyPr wrap="square">
            <a:spAutoFit/>
          </a:bodyPr>
          <a:lstStyle/>
          <a:p>
            <a:pPr algn="l"/>
            <a:r>
              <a:rPr sz="1200" b="1">
                <a:solidFill>
                  <a:srgbClr val="38BDF8"/>
                </a:solidFill>
                <a:latin typeface="Segoe UI"/>
              </a:rPr>
              <a:t>Incidents</a:t>
            </a:r>
          </a:p>
        </p:txBody>
      </p:sp>
      <p:sp>
        <p:nvSpPr>
          <p:cNvPr id="13" name="TextBox 12"/>
          <p:cNvSpPr txBox="1"/>
          <p:nvPr/>
        </p:nvSpPr>
        <p:spPr>
          <a:xfrm>
            <a:off x="7763256" y="1472184"/>
            <a:ext cx="1005840" cy="320040"/>
          </a:xfrm>
          <a:prstGeom prst="rect">
            <a:avLst/>
          </a:prstGeom>
          <a:noFill/>
        </p:spPr>
        <p:txBody>
          <a:bodyPr wrap="square">
            <a:spAutoFit/>
          </a:bodyPr>
          <a:lstStyle/>
          <a:p>
            <a:pPr algn="l"/>
            <a:r>
              <a:rPr sz="1200" b="1">
                <a:solidFill>
                  <a:srgbClr val="38BDF8"/>
                </a:solidFill>
                <a:latin typeface="Segoe UI"/>
              </a:rPr>
              <a:t>Score</a:t>
            </a:r>
          </a:p>
        </p:txBody>
      </p:sp>
      <p:sp>
        <p:nvSpPr>
          <p:cNvPr id="14" name="TextBox 13"/>
          <p:cNvSpPr txBox="1"/>
          <p:nvPr/>
        </p:nvSpPr>
        <p:spPr>
          <a:xfrm>
            <a:off x="8796528" y="1472184"/>
            <a:ext cx="1371600" cy="320040"/>
          </a:xfrm>
          <a:prstGeom prst="rect">
            <a:avLst/>
          </a:prstGeom>
          <a:noFill/>
        </p:spPr>
        <p:txBody>
          <a:bodyPr wrap="square">
            <a:spAutoFit/>
          </a:bodyPr>
          <a:lstStyle/>
          <a:p>
            <a:pPr algn="l"/>
            <a:r>
              <a:rPr sz="1200" b="1">
                <a:solidFill>
                  <a:srgbClr val="38BDF8"/>
                </a:solidFill>
                <a:latin typeface="Segoe UI"/>
              </a:rPr>
              <a:t>Level</a:t>
            </a:r>
          </a:p>
        </p:txBody>
      </p:sp>
      <p:sp>
        <p:nvSpPr>
          <p:cNvPr id="15" name="Rectangle 14"/>
          <p:cNvSpPr/>
          <p:nvPr/>
        </p:nvSpPr>
        <p:spPr>
          <a:xfrm>
            <a:off x="274320" y="1874519"/>
            <a:ext cx="347472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1956815"/>
            <a:ext cx="3474720" cy="384048"/>
          </a:xfrm>
          <a:prstGeom prst="rect">
            <a:avLst/>
          </a:prstGeom>
          <a:noFill/>
        </p:spPr>
        <p:txBody>
          <a:bodyPr wrap="square">
            <a:spAutoFit/>
          </a:bodyPr>
          <a:lstStyle/>
          <a:p>
            <a:pPr algn="l"/>
            <a:r>
              <a:rPr sz="1300" b="0">
                <a:solidFill>
                  <a:srgbClr val="F8FAFC"/>
                </a:solidFill>
                <a:latin typeface="Segoe UI"/>
              </a:rPr>
              <a:t>1 — Port Scan</a:t>
            </a:r>
          </a:p>
        </p:txBody>
      </p:sp>
      <p:sp>
        <p:nvSpPr>
          <p:cNvPr id="17" name="Rectangle 16"/>
          <p:cNvSpPr/>
          <p:nvPr/>
        </p:nvSpPr>
        <p:spPr>
          <a:xfrm>
            <a:off x="3776472" y="1874519"/>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13048" y="1956815"/>
            <a:ext cx="914400" cy="384048"/>
          </a:xfrm>
          <a:prstGeom prst="rect">
            <a:avLst/>
          </a:prstGeom>
          <a:noFill/>
        </p:spPr>
        <p:txBody>
          <a:bodyPr wrap="square">
            <a:spAutoFit/>
          </a:bodyPr>
          <a:lstStyle/>
          <a:p>
            <a:pPr algn="l"/>
            <a:r>
              <a:rPr sz="1300" b="0">
                <a:solidFill>
                  <a:srgbClr val="F8FAFC"/>
                </a:solidFill>
                <a:latin typeface="Segoe UI"/>
              </a:rPr>
              <a:t>238</a:t>
            </a:r>
          </a:p>
        </p:txBody>
      </p:sp>
      <p:sp>
        <p:nvSpPr>
          <p:cNvPr id="19" name="Rectangle 18"/>
          <p:cNvSpPr/>
          <p:nvPr/>
        </p:nvSpPr>
        <p:spPr>
          <a:xfrm>
            <a:off x="4718304" y="1874519"/>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1956815"/>
            <a:ext cx="914400" cy="384048"/>
          </a:xfrm>
          <a:prstGeom prst="rect">
            <a:avLst/>
          </a:prstGeom>
          <a:noFill/>
        </p:spPr>
        <p:txBody>
          <a:bodyPr wrap="square">
            <a:spAutoFit/>
          </a:bodyPr>
          <a:lstStyle/>
          <a:p>
            <a:pPr algn="l"/>
            <a:r>
              <a:rPr sz="1300" b="0">
                <a:solidFill>
                  <a:srgbClr val="F8FAFC"/>
                </a:solidFill>
                <a:latin typeface="Segoe UI"/>
              </a:rPr>
              <a:t>18</a:t>
            </a:r>
          </a:p>
        </p:txBody>
      </p:sp>
      <p:sp>
        <p:nvSpPr>
          <p:cNvPr id="21" name="Rectangle 20"/>
          <p:cNvSpPr/>
          <p:nvPr/>
        </p:nvSpPr>
        <p:spPr>
          <a:xfrm>
            <a:off x="5660136" y="1874519"/>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96712" y="1956815"/>
            <a:ext cx="914400" cy="384048"/>
          </a:xfrm>
          <a:prstGeom prst="rect">
            <a:avLst/>
          </a:prstGeom>
          <a:noFill/>
        </p:spPr>
        <p:txBody>
          <a:bodyPr wrap="square">
            <a:spAutoFit/>
          </a:bodyPr>
          <a:lstStyle/>
          <a:p>
            <a:pPr algn="l"/>
            <a:r>
              <a:rPr sz="1300" b="0">
                <a:solidFill>
                  <a:srgbClr val="F8FAFC"/>
                </a:solidFill>
                <a:latin typeface="Segoe UI"/>
              </a:rPr>
              <a:t>1</a:t>
            </a:r>
          </a:p>
        </p:txBody>
      </p:sp>
      <p:sp>
        <p:nvSpPr>
          <p:cNvPr id="23" name="Rectangle 22"/>
          <p:cNvSpPr/>
          <p:nvPr/>
        </p:nvSpPr>
        <p:spPr>
          <a:xfrm>
            <a:off x="6601968" y="1874519"/>
            <a:ext cx="109728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8544" y="1956815"/>
            <a:ext cx="1097280" cy="384048"/>
          </a:xfrm>
          <a:prstGeom prst="rect">
            <a:avLst/>
          </a:prstGeom>
          <a:noFill/>
        </p:spPr>
        <p:txBody>
          <a:bodyPr wrap="square">
            <a:spAutoFit/>
          </a:bodyPr>
          <a:lstStyle/>
          <a:p>
            <a:pPr algn="l"/>
            <a:r>
              <a:rPr sz="1300" b="0">
                <a:solidFill>
                  <a:srgbClr val="F8FAFC"/>
                </a:solidFill>
                <a:latin typeface="Segoe UI"/>
              </a:rPr>
              <a:t>1</a:t>
            </a:r>
          </a:p>
        </p:txBody>
      </p:sp>
      <p:sp>
        <p:nvSpPr>
          <p:cNvPr id="25" name="Rectangle 24"/>
          <p:cNvSpPr/>
          <p:nvPr/>
        </p:nvSpPr>
        <p:spPr>
          <a:xfrm>
            <a:off x="7726680" y="1874519"/>
            <a:ext cx="100584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63256" y="1956815"/>
            <a:ext cx="1005840" cy="384048"/>
          </a:xfrm>
          <a:prstGeom prst="rect">
            <a:avLst/>
          </a:prstGeom>
          <a:noFill/>
        </p:spPr>
        <p:txBody>
          <a:bodyPr wrap="square">
            <a:spAutoFit/>
          </a:bodyPr>
          <a:lstStyle/>
          <a:p>
            <a:pPr algn="l"/>
            <a:r>
              <a:rPr sz="1300" b="0">
                <a:solidFill>
                  <a:srgbClr val="F8FAFC"/>
                </a:solidFill>
                <a:latin typeface="Segoe UI"/>
              </a:rPr>
              <a:t>30/100</a:t>
            </a:r>
          </a:p>
        </p:txBody>
      </p:sp>
      <p:sp>
        <p:nvSpPr>
          <p:cNvPr id="27" name="Rectangle 26"/>
          <p:cNvSpPr/>
          <p:nvPr/>
        </p:nvSpPr>
        <p:spPr>
          <a:xfrm>
            <a:off x="8759952" y="1874519"/>
            <a:ext cx="13716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1956815"/>
            <a:ext cx="1371600" cy="384048"/>
          </a:xfrm>
          <a:prstGeom prst="rect">
            <a:avLst/>
          </a:prstGeom>
          <a:noFill/>
        </p:spPr>
        <p:txBody>
          <a:bodyPr wrap="square">
            <a:spAutoFit/>
          </a:bodyPr>
          <a:lstStyle/>
          <a:p>
            <a:pPr algn="l"/>
            <a:r>
              <a:rPr sz="1300" b="0">
                <a:solidFill>
                  <a:srgbClr val="F59E0B"/>
                </a:solidFill>
                <a:latin typeface="Segoe UI"/>
              </a:rPr>
              <a:t>Medium</a:t>
            </a:r>
          </a:p>
        </p:txBody>
      </p:sp>
      <p:sp>
        <p:nvSpPr>
          <p:cNvPr id="29" name="Rectangle 28"/>
          <p:cNvSpPr/>
          <p:nvPr/>
        </p:nvSpPr>
        <p:spPr>
          <a:xfrm>
            <a:off x="274320" y="2441447"/>
            <a:ext cx="347472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0896" y="2523743"/>
            <a:ext cx="3474720" cy="384048"/>
          </a:xfrm>
          <a:prstGeom prst="rect">
            <a:avLst/>
          </a:prstGeom>
          <a:noFill/>
        </p:spPr>
        <p:txBody>
          <a:bodyPr wrap="square">
            <a:spAutoFit/>
          </a:bodyPr>
          <a:lstStyle/>
          <a:p>
            <a:pPr algn="l"/>
            <a:r>
              <a:rPr sz="1300" b="0">
                <a:solidFill>
                  <a:srgbClr val="F8FAFC"/>
                </a:solidFill>
                <a:latin typeface="Segoe UI"/>
              </a:rPr>
              <a:t>2 — Host Scan</a:t>
            </a:r>
          </a:p>
        </p:txBody>
      </p:sp>
      <p:sp>
        <p:nvSpPr>
          <p:cNvPr id="31" name="Rectangle 30"/>
          <p:cNvSpPr/>
          <p:nvPr/>
        </p:nvSpPr>
        <p:spPr>
          <a:xfrm>
            <a:off x="3776472" y="2441447"/>
            <a:ext cx="9144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13048" y="2523743"/>
            <a:ext cx="914400" cy="384048"/>
          </a:xfrm>
          <a:prstGeom prst="rect">
            <a:avLst/>
          </a:prstGeom>
          <a:noFill/>
        </p:spPr>
        <p:txBody>
          <a:bodyPr wrap="square">
            <a:spAutoFit/>
          </a:bodyPr>
          <a:lstStyle/>
          <a:p>
            <a:pPr algn="l"/>
            <a:r>
              <a:rPr sz="1300" b="0">
                <a:solidFill>
                  <a:srgbClr val="F8FAFC"/>
                </a:solidFill>
                <a:latin typeface="Segoe UI"/>
              </a:rPr>
              <a:t>232</a:t>
            </a:r>
          </a:p>
        </p:txBody>
      </p:sp>
      <p:sp>
        <p:nvSpPr>
          <p:cNvPr id="33" name="Rectangle 32"/>
          <p:cNvSpPr/>
          <p:nvPr/>
        </p:nvSpPr>
        <p:spPr>
          <a:xfrm>
            <a:off x="4718304" y="2441447"/>
            <a:ext cx="9144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0" y="2523743"/>
            <a:ext cx="914400" cy="384048"/>
          </a:xfrm>
          <a:prstGeom prst="rect">
            <a:avLst/>
          </a:prstGeom>
          <a:noFill/>
        </p:spPr>
        <p:txBody>
          <a:bodyPr wrap="square">
            <a:spAutoFit/>
          </a:bodyPr>
          <a:lstStyle/>
          <a:p>
            <a:pPr algn="l"/>
            <a:r>
              <a:rPr sz="1300" b="0">
                <a:solidFill>
                  <a:srgbClr val="F8FAFC"/>
                </a:solidFill>
                <a:latin typeface="Segoe UI"/>
              </a:rPr>
              <a:t>12</a:t>
            </a:r>
          </a:p>
        </p:txBody>
      </p:sp>
      <p:sp>
        <p:nvSpPr>
          <p:cNvPr id="35" name="Rectangle 34"/>
          <p:cNvSpPr/>
          <p:nvPr/>
        </p:nvSpPr>
        <p:spPr>
          <a:xfrm>
            <a:off x="5660136" y="2441447"/>
            <a:ext cx="9144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96712" y="2523743"/>
            <a:ext cx="914400" cy="384048"/>
          </a:xfrm>
          <a:prstGeom prst="rect">
            <a:avLst/>
          </a:prstGeom>
          <a:noFill/>
        </p:spPr>
        <p:txBody>
          <a:bodyPr wrap="square">
            <a:spAutoFit/>
          </a:bodyPr>
          <a:lstStyle/>
          <a:p>
            <a:pPr algn="l"/>
            <a:r>
              <a:rPr sz="1300" b="0">
                <a:solidFill>
                  <a:srgbClr val="F8FAFC"/>
                </a:solidFill>
                <a:latin typeface="Segoe UI"/>
              </a:rPr>
              <a:t>1</a:t>
            </a:r>
          </a:p>
        </p:txBody>
      </p:sp>
      <p:sp>
        <p:nvSpPr>
          <p:cNvPr id="37" name="Rectangle 36"/>
          <p:cNvSpPr/>
          <p:nvPr/>
        </p:nvSpPr>
        <p:spPr>
          <a:xfrm>
            <a:off x="6601968" y="2441447"/>
            <a:ext cx="109728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38544" y="2523743"/>
            <a:ext cx="1097280" cy="384048"/>
          </a:xfrm>
          <a:prstGeom prst="rect">
            <a:avLst/>
          </a:prstGeom>
          <a:noFill/>
        </p:spPr>
        <p:txBody>
          <a:bodyPr wrap="square">
            <a:spAutoFit/>
          </a:bodyPr>
          <a:lstStyle/>
          <a:p>
            <a:pPr algn="l"/>
            <a:r>
              <a:rPr sz="1300" b="0">
                <a:solidFill>
                  <a:srgbClr val="F8FAFC"/>
                </a:solidFill>
                <a:latin typeface="Segoe UI"/>
              </a:rPr>
              <a:t>1</a:t>
            </a:r>
          </a:p>
        </p:txBody>
      </p:sp>
      <p:sp>
        <p:nvSpPr>
          <p:cNvPr id="39" name="Rectangle 38"/>
          <p:cNvSpPr/>
          <p:nvPr/>
        </p:nvSpPr>
        <p:spPr>
          <a:xfrm>
            <a:off x="7726680" y="2441447"/>
            <a:ext cx="100584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63256" y="2523743"/>
            <a:ext cx="1005840" cy="384048"/>
          </a:xfrm>
          <a:prstGeom prst="rect">
            <a:avLst/>
          </a:prstGeom>
          <a:noFill/>
        </p:spPr>
        <p:txBody>
          <a:bodyPr wrap="square">
            <a:spAutoFit/>
          </a:bodyPr>
          <a:lstStyle/>
          <a:p>
            <a:pPr algn="l"/>
            <a:r>
              <a:rPr sz="1300" b="0">
                <a:solidFill>
                  <a:srgbClr val="F8FAFC"/>
                </a:solidFill>
                <a:latin typeface="Segoe UI"/>
              </a:rPr>
              <a:t>30/100</a:t>
            </a:r>
          </a:p>
        </p:txBody>
      </p:sp>
      <p:sp>
        <p:nvSpPr>
          <p:cNvPr id="41" name="Rectangle 40"/>
          <p:cNvSpPr/>
          <p:nvPr/>
        </p:nvSpPr>
        <p:spPr>
          <a:xfrm>
            <a:off x="8759952" y="2441447"/>
            <a:ext cx="13716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96528" y="2523743"/>
            <a:ext cx="1371600" cy="384048"/>
          </a:xfrm>
          <a:prstGeom prst="rect">
            <a:avLst/>
          </a:prstGeom>
          <a:noFill/>
        </p:spPr>
        <p:txBody>
          <a:bodyPr wrap="square">
            <a:spAutoFit/>
          </a:bodyPr>
          <a:lstStyle/>
          <a:p>
            <a:pPr algn="l"/>
            <a:r>
              <a:rPr sz="1300" b="0">
                <a:solidFill>
                  <a:srgbClr val="F59E0B"/>
                </a:solidFill>
                <a:latin typeface="Segoe UI"/>
              </a:rPr>
              <a:t>Medium</a:t>
            </a:r>
          </a:p>
        </p:txBody>
      </p:sp>
      <p:sp>
        <p:nvSpPr>
          <p:cNvPr id="43" name="Rectangle 42"/>
          <p:cNvSpPr/>
          <p:nvPr/>
        </p:nvSpPr>
        <p:spPr>
          <a:xfrm>
            <a:off x="274320" y="3008375"/>
            <a:ext cx="347472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 y="3090671"/>
            <a:ext cx="3474720" cy="384048"/>
          </a:xfrm>
          <a:prstGeom prst="rect">
            <a:avLst/>
          </a:prstGeom>
          <a:noFill/>
        </p:spPr>
        <p:txBody>
          <a:bodyPr wrap="square">
            <a:spAutoFit/>
          </a:bodyPr>
          <a:lstStyle/>
          <a:p>
            <a:pPr algn="l"/>
            <a:r>
              <a:rPr sz="1300" b="0">
                <a:solidFill>
                  <a:srgbClr val="F8FAFC"/>
                </a:solidFill>
                <a:latin typeface="Segoe UI"/>
              </a:rPr>
              <a:t>3 — Data Exfil</a:t>
            </a:r>
          </a:p>
        </p:txBody>
      </p:sp>
      <p:sp>
        <p:nvSpPr>
          <p:cNvPr id="45" name="Rectangle 44"/>
          <p:cNvSpPr/>
          <p:nvPr/>
        </p:nvSpPr>
        <p:spPr>
          <a:xfrm>
            <a:off x="3776472" y="3008375"/>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3048" y="3090671"/>
            <a:ext cx="914400" cy="384048"/>
          </a:xfrm>
          <a:prstGeom prst="rect">
            <a:avLst/>
          </a:prstGeom>
          <a:noFill/>
        </p:spPr>
        <p:txBody>
          <a:bodyPr wrap="square">
            <a:spAutoFit/>
          </a:bodyPr>
          <a:lstStyle/>
          <a:p>
            <a:pPr algn="l"/>
            <a:r>
              <a:rPr sz="1300" b="0">
                <a:solidFill>
                  <a:srgbClr val="F8FAFC"/>
                </a:solidFill>
                <a:latin typeface="Segoe UI"/>
              </a:rPr>
              <a:t>224</a:t>
            </a:r>
          </a:p>
        </p:txBody>
      </p:sp>
      <p:sp>
        <p:nvSpPr>
          <p:cNvPr id="47" name="Rectangle 46"/>
          <p:cNvSpPr/>
          <p:nvPr/>
        </p:nvSpPr>
        <p:spPr>
          <a:xfrm>
            <a:off x="4718304" y="3008375"/>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54880" y="3090671"/>
            <a:ext cx="914400" cy="384048"/>
          </a:xfrm>
          <a:prstGeom prst="rect">
            <a:avLst/>
          </a:prstGeom>
          <a:noFill/>
        </p:spPr>
        <p:txBody>
          <a:bodyPr wrap="square">
            <a:spAutoFit/>
          </a:bodyPr>
          <a:lstStyle/>
          <a:p>
            <a:pPr algn="l"/>
            <a:r>
              <a:rPr sz="1300" b="0">
                <a:solidFill>
                  <a:srgbClr val="F8FAFC"/>
                </a:solidFill>
                <a:latin typeface="Segoe UI"/>
              </a:rPr>
              <a:t>4</a:t>
            </a:r>
          </a:p>
        </p:txBody>
      </p:sp>
      <p:sp>
        <p:nvSpPr>
          <p:cNvPr id="49" name="Rectangle 48"/>
          <p:cNvSpPr/>
          <p:nvPr/>
        </p:nvSpPr>
        <p:spPr>
          <a:xfrm>
            <a:off x="5660136" y="3008375"/>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96712" y="3090671"/>
            <a:ext cx="914400" cy="384048"/>
          </a:xfrm>
          <a:prstGeom prst="rect">
            <a:avLst/>
          </a:prstGeom>
          <a:noFill/>
        </p:spPr>
        <p:txBody>
          <a:bodyPr wrap="square">
            <a:spAutoFit/>
          </a:bodyPr>
          <a:lstStyle/>
          <a:p>
            <a:pPr algn="l"/>
            <a:r>
              <a:rPr sz="1300" b="0">
                <a:solidFill>
                  <a:srgbClr val="F8FAFC"/>
                </a:solidFill>
                <a:latin typeface="Segoe UI"/>
              </a:rPr>
              <a:t>1</a:t>
            </a:r>
          </a:p>
        </p:txBody>
      </p:sp>
      <p:sp>
        <p:nvSpPr>
          <p:cNvPr id="51" name="Rectangle 50"/>
          <p:cNvSpPr/>
          <p:nvPr/>
        </p:nvSpPr>
        <p:spPr>
          <a:xfrm>
            <a:off x="6601968" y="3008375"/>
            <a:ext cx="109728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38544" y="3090671"/>
            <a:ext cx="1097280" cy="384048"/>
          </a:xfrm>
          <a:prstGeom prst="rect">
            <a:avLst/>
          </a:prstGeom>
          <a:noFill/>
        </p:spPr>
        <p:txBody>
          <a:bodyPr wrap="square">
            <a:spAutoFit/>
          </a:bodyPr>
          <a:lstStyle/>
          <a:p>
            <a:pPr algn="l"/>
            <a:r>
              <a:rPr sz="1300" b="0">
                <a:solidFill>
                  <a:srgbClr val="F8FAFC"/>
                </a:solidFill>
                <a:latin typeface="Segoe UI"/>
              </a:rPr>
              <a:t>1</a:t>
            </a:r>
          </a:p>
        </p:txBody>
      </p:sp>
      <p:sp>
        <p:nvSpPr>
          <p:cNvPr id="53" name="Rectangle 52"/>
          <p:cNvSpPr/>
          <p:nvPr/>
        </p:nvSpPr>
        <p:spPr>
          <a:xfrm>
            <a:off x="7726680" y="3008375"/>
            <a:ext cx="100584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63256" y="3090671"/>
            <a:ext cx="1005840" cy="384048"/>
          </a:xfrm>
          <a:prstGeom prst="rect">
            <a:avLst/>
          </a:prstGeom>
          <a:noFill/>
        </p:spPr>
        <p:txBody>
          <a:bodyPr wrap="square">
            <a:spAutoFit/>
          </a:bodyPr>
          <a:lstStyle/>
          <a:p>
            <a:pPr algn="l"/>
            <a:r>
              <a:rPr sz="1300" b="0">
                <a:solidFill>
                  <a:srgbClr val="F8FAFC"/>
                </a:solidFill>
                <a:latin typeface="Segoe UI"/>
              </a:rPr>
              <a:t>60/100</a:t>
            </a:r>
          </a:p>
        </p:txBody>
      </p:sp>
      <p:sp>
        <p:nvSpPr>
          <p:cNvPr id="55" name="Rectangle 54"/>
          <p:cNvSpPr/>
          <p:nvPr/>
        </p:nvSpPr>
        <p:spPr>
          <a:xfrm>
            <a:off x="8759952" y="3008375"/>
            <a:ext cx="13716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96528" y="3090671"/>
            <a:ext cx="1371600" cy="384048"/>
          </a:xfrm>
          <a:prstGeom prst="rect">
            <a:avLst/>
          </a:prstGeom>
          <a:noFill/>
        </p:spPr>
        <p:txBody>
          <a:bodyPr wrap="square">
            <a:spAutoFit/>
          </a:bodyPr>
          <a:lstStyle/>
          <a:p>
            <a:pPr algn="l"/>
            <a:r>
              <a:rPr sz="1300" b="0">
                <a:solidFill>
                  <a:srgbClr val="F97316"/>
                </a:solidFill>
                <a:latin typeface="Segoe UI"/>
              </a:rPr>
              <a:t>High</a:t>
            </a:r>
          </a:p>
        </p:txBody>
      </p:sp>
      <p:sp>
        <p:nvSpPr>
          <p:cNvPr id="57" name="Rectangle 56"/>
          <p:cNvSpPr/>
          <p:nvPr/>
        </p:nvSpPr>
        <p:spPr>
          <a:xfrm>
            <a:off x="274320" y="3575303"/>
            <a:ext cx="347472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10896" y="3657599"/>
            <a:ext cx="3474720" cy="384048"/>
          </a:xfrm>
          <a:prstGeom prst="rect">
            <a:avLst/>
          </a:prstGeom>
          <a:noFill/>
        </p:spPr>
        <p:txBody>
          <a:bodyPr wrap="square">
            <a:spAutoFit/>
          </a:bodyPr>
          <a:lstStyle/>
          <a:p>
            <a:pPr algn="l"/>
            <a:r>
              <a:rPr sz="1300" b="0">
                <a:solidFill>
                  <a:srgbClr val="F8FAFC"/>
                </a:solidFill>
                <a:latin typeface="Segoe UI"/>
              </a:rPr>
              <a:t>4 — Multi-Stage</a:t>
            </a:r>
          </a:p>
        </p:txBody>
      </p:sp>
      <p:sp>
        <p:nvSpPr>
          <p:cNvPr id="59" name="Rectangle 58"/>
          <p:cNvSpPr/>
          <p:nvPr/>
        </p:nvSpPr>
        <p:spPr>
          <a:xfrm>
            <a:off x="3776472" y="3575303"/>
            <a:ext cx="9144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3048" y="3657599"/>
            <a:ext cx="914400" cy="384048"/>
          </a:xfrm>
          <a:prstGeom prst="rect">
            <a:avLst/>
          </a:prstGeom>
          <a:noFill/>
        </p:spPr>
        <p:txBody>
          <a:bodyPr wrap="square">
            <a:spAutoFit/>
          </a:bodyPr>
          <a:lstStyle/>
          <a:p>
            <a:pPr algn="l"/>
            <a:r>
              <a:rPr sz="1300" b="0">
                <a:solidFill>
                  <a:srgbClr val="F8FAFC"/>
                </a:solidFill>
                <a:latin typeface="Segoe UI"/>
              </a:rPr>
              <a:t>277</a:t>
            </a:r>
          </a:p>
        </p:txBody>
      </p:sp>
      <p:sp>
        <p:nvSpPr>
          <p:cNvPr id="61" name="Rectangle 60"/>
          <p:cNvSpPr/>
          <p:nvPr/>
        </p:nvSpPr>
        <p:spPr>
          <a:xfrm>
            <a:off x="4718304" y="3575303"/>
            <a:ext cx="9144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754880" y="3657599"/>
            <a:ext cx="914400" cy="384048"/>
          </a:xfrm>
          <a:prstGeom prst="rect">
            <a:avLst/>
          </a:prstGeom>
          <a:noFill/>
        </p:spPr>
        <p:txBody>
          <a:bodyPr wrap="square">
            <a:spAutoFit/>
          </a:bodyPr>
          <a:lstStyle/>
          <a:p>
            <a:pPr algn="l"/>
            <a:r>
              <a:rPr sz="1300" b="0">
                <a:solidFill>
                  <a:srgbClr val="F8FAFC"/>
                </a:solidFill>
                <a:latin typeface="Segoe UI"/>
              </a:rPr>
              <a:t>27</a:t>
            </a:r>
          </a:p>
        </p:txBody>
      </p:sp>
      <p:sp>
        <p:nvSpPr>
          <p:cNvPr id="63" name="Rectangle 62"/>
          <p:cNvSpPr/>
          <p:nvPr/>
        </p:nvSpPr>
        <p:spPr>
          <a:xfrm>
            <a:off x="5660136" y="3575303"/>
            <a:ext cx="9144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96712" y="3657599"/>
            <a:ext cx="914400" cy="384048"/>
          </a:xfrm>
          <a:prstGeom prst="rect">
            <a:avLst/>
          </a:prstGeom>
          <a:noFill/>
        </p:spPr>
        <p:txBody>
          <a:bodyPr wrap="square">
            <a:spAutoFit/>
          </a:bodyPr>
          <a:lstStyle/>
          <a:p>
            <a:pPr algn="l"/>
            <a:r>
              <a:rPr sz="1300" b="0">
                <a:solidFill>
                  <a:srgbClr val="F8FAFC"/>
                </a:solidFill>
                <a:latin typeface="Segoe UI"/>
              </a:rPr>
              <a:t>3</a:t>
            </a:r>
          </a:p>
        </p:txBody>
      </p:sp>
      <p:sp>
        <p:nvSpPr>
          <p:cNvPr id="65" name="Rectangle 64"/>
          <p:cNvSpPr/>
          <p:nvPr/>
        </p:nvSpPr>
        <p:spPr>
          <a:xfrm>
            <a:off x="6601968" y="3575303"/>
            <a:ext cx="109728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38544" y="3657599"/>
            <a:ext cx="1097280" cy="384048"/>
          </a:xfrm>
          <a:prstGeom prst="rect">
            <a:avLst/>
          </a:prstGeom>
          <a:noFill/>
        </p:spPr>
        <p:txBody>
          <a:bodyPr wrap="square">
            <a:spAutoFit/>
          </a:bodyPr>
          <a:lstStyle/>
          <a:p>
            <a:pPr algn="l"/>
            <a:r>
              <a:rPr sz="1300" b="0">
                <a:solidFill>
                  <a:srgbClr val="F8FAFC"/>
                </a:solidFill>
                <a:latin typeface="Segoe UI"/>
              </a:rPr>
              <a:t>1</a:t>
            </a:r>
          </a:p>
        </p:txBody>
      </p:sp>
      <p:sp>
        <p:nvSpPr>
          <p:cNvPr id="67" name="Rectangle 66"/>
          <p:cNvSpPr/>
          <p:nvPr/>
        </p:nvSpPr>
        <p:spPr>
          <a:xfrm>
            <a:off x="7726680" y="3575303"/>
            <a:ext cx="100584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63256" y="3657599"/>
            <a:ext cx="1005840" cy="384048"/>
          </a:xfrm>
          <a:prstGeom prst="rect">
            <a:avLst/>
          </a:prstGeom>
          <a:noFill/>
        </p:spPr>
        <p:txBody>
          <a:bodyPr wrap="square">
            <a:spAutoFit/>
          </a:bodyPr>
          <a:lstStyle/>
          <a:p>
            <a:pPr algn="l"/>
            <a:r>
              <a:rPr sz="1300" b="0">
                <a:solidFill>
                  <a:srgbClr val="F8FAFC"/>
                </a:solidFill>
                <a:latin typeface="Segoe UI"/>
              </a:rPr>
              <a:t>90/100</a:t>
            </a:r>
          </a:p>
        </p:txBody>
      </p:sp>
      <p:sp>
        <p:nvSpPr>
          <p:cNvPr id="69" name="Rectangle 68"/>
          <p:cNvSpPr/>
          <p:nvPr/>
        </p:nvSpPr>
        <p:spPr>
          <a:xfrm>
            <a:off x="8759952" y="3575303"/>
            <a:ext cx="1371600" cy="53035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796528" y="3657599"/>
            <a:ext cx="1371600" cy="384048"/>
          </a:xfrm>
          <a:prstGeom prst="rect">
            <a:avLst/>
          </a:prstGeom>
          <a:noFill/>
        </p:spPr>
        <p:txBody>
          <a:bodyPr wrap="square">
            <a:spAutoFit/>
          </a:bodyPr>
          <a:lstStyle/>
          <a:p>
            <a:pPr algn="l"/>
            <a:r>
              <a:rPr sz="1300" b="0">
                <a:solidFill>
                  <a:srgbClr val="EF4444"/>
                </a:solidFill>
                <a:latin typeface="Segoe UI"/>
              </a:rPr>
              <a:t>CRITICAL</a:t>
            </a:r>
          </a:p>
        </p:txBody>
      </p:sp>
      <p:sp>
        <p:nvSpPr>
          <p:cNvPr id="71" name="Rectangle 70"/>
          <p:cNvSpPr/>
          <p:nvPr/>
        </p:nvSpPr>
        <p:spPr>
          <a:xfrm>
            <a:off x="274320" y="4142231"/>
            <a:ext cx="347472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10896" y="4224527"/>
            <a:ext cx="3474720" cy="384048"/>
          </a:xfrm>
          <a:prstGeom prst="rect">
            <a:avLst/>
          </a:prstGeom>
          <a:noFill/>
        </p:spPr>
        <p:txBody>
          <a:bodyPr wrap="square">
            <a:spAutoFit/>
          </a:bodyPr>
          <a:lstStyle/>
          <a:p>
            <a:pPr algn="l"/>
            <a:r>
              <a:rPr sz="1300" b="0">
                <a:solidFill>
                  <a:srgbClr val="F8FAFC"/>
                </a:solidFill>
                <a:latin typeface="Segoe UI"/>
              </a:rPr>
              <a:t>5 — Benign Baseline</a:t>
            </a:r>
          </a:p>
        </p:txBody>
      </p:sp>
      <p:sp>
        <p:nvSpPr>
          <p:cNvPr id="73" name="Rectangle 72"/>
          <p:cNvSpPr/>
          <p:nvPr/>
        </p:nvSpPr>
        <p:spPr>
          <a:xfrm>
            <a:off x="3776472" y="4142231"/>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813048" y="4224527"/>
            <a:ext cx="914400" cy="384048"/>
          </a:xfrm>
          <a:prstGeom prst="rect">
            <a:avLst/>
          </a:prstGeom>
          <a:noFill/>
        </p:spPr>
        <p:txBody>
          <a:bodyPr wrap="square">
            <a:spAutoFit/>
          </a:bodyPr>
          <a:lstStyle/>
          <a:p>
            <a:pPr algn="l"/>
            <a:r>
              <a:rPr sz="1300" b="0">
                <a:solidFill>
                  <a:srgbClr val="F8FAFC"/>
                </a:solidFill>
                <a:latin typeface="Segoe UI"/>
              </a:rPr>
              <a:t>320</a:t>
            </a:r>
          </a:p>
        </p:txBody>
      </p:sp>
      <p:sp>
        <p:nvSpPr>
          <p:cNvPr id="75" name="Rectangle 74"/>
          <p:cNvSpPr/>
          <p:nvPr/>
        </p:nvSpPr>
        <p:spPr>
          <a:xfrm>
            <a:off x="4718304" y="4142231"/>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54880" y="4224527"/>
            <a:ext cx="914400" cy="384048"/>
          </a:xfrm>
          <a:prstGeom prst="rect">
            <a:avLst/>
          </a:prstGeom>
          <a:noFill/>
        </p:spPr>
        <p:txBody>
          <a:bodyPr wrap="square">
            <a:spAutoFit/>
          </a:bodyPr>
          <a:lstStyle/>
          <a:p>
            <a:pPr algn="l"/>
            <a:r>
              <a:rPr sz="1300" b="0">
                <a:solidFill>
                  <a:srgbClr val="F8FAFC"/>
                </a:solidFill>
                <a:latin typeface="Segoe UI"/>
              </a:rPr>
              <a:t>0</a:t>
            </a:r>
          </a:p>
        </p:txBody>
      </p:sp>
      <p:sp>
        <p:nvSpPr>
          <p:cNvPr id="77" name="Rectangle 76"/>
          <p:cNvSpPr/>
          <p:nvPr/>
        </p:nvSpPr>
        <p:spPr>
          <a:xfrm>
            <a:off x="5660136" y="4142231"/>
            <a:ext cx="9144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96712" y="4224527"/>
            <a:ext cx="914400" cy="384048"/>
          </a:xfrm>
          <a:prstGeom prst="rect">
            <a:avLst/>
          </a:prstGeom>
          <a:noFill/>
        </p:spPr>
        <p:txBody>
          <a:bodyPr wrap="square">
            <a:spAutoFit/>
          </a:bodyPr>
          <a:lstStyle/>
          <a:p>
            <a:pPr algn="l"/>
            <a:r>
              <a:rPr sz="1300" b="0">
                <a:solidFill>
                  <a:srgbClr val="F8FAFC"/>
                </a:solidFill>
                <a:latin typeface="Segoe UI"/>
              </a:rPr>
              <a:t>0</a:t>
            </a:r>
          </a:p>
        </p:txBody>
      </p:sp>
      <p:sp>
        <p:nvSpPr>
          <p:cNvPr id="79" name="Rectangle 78"/>
          <p:cNvSpPr/>
          <p:nvPr/>
        </p:nvSpPr>
        <p:spPr>
          <a:xfrm>
            <a:off x="6601968" y="4142231"/>
            <a:ext cx="109728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638544" y="4224527"/>
            <a:ext cx="1097280" cy="384048"/>
          </a:xfrm>
          <a:prstGeom prst="rect">
            <a:avLst/>
          </a:prstGeom>
          <a:noFill/>
        </p:spPr>
        <p:txBody>
          <a:bodyPr wrap="square">
            <a:spAutoFit/>
          </a:bodyPr>
          <a:lstStyle/>
          <a:p>
            <a:pPr algn="l"/>
            <a:r>
              <a:rPr sz="1300" b="0">
                <a:solidFill>
                  <a:srgbClr val="F8FAFC"/>
                </a:solidFill>
                <a:latin typeface="Segoe UI"/>
              </a:rPr>
              <a:t>0</a:t>
            </a:r>
          </a:p>
        </p:txBody>
      </p:sp>
      <p:sp>
        <p:nvSpPr>
          <p:cNvPr id="81" name="Rectangle 80"/>
          <p:cNvSpPr/>
          <p:nvPr/>
        </p:nvSpPr>
        <p:spPr>
          <a:xfrm>
            <a:off x="7726680" y="4142231"/>
            <a:ext cx="100584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763256" y="4224527"/>
            <a:ext cx="1005840" cy="384048"/>
          </a:xfrm>
          <a:prstGeom prst="rect">
            <a:avLst/>
          </a:prstGeom>
          <a:noFill/>
        </p:spPr>
        <p:txBody>
          <a:bodyPr wrap="square">
            <a:spAutoFit/>
          </a:bodyPr>
          <a:lstStyle/>
          <a:p>
            <a:pPr algn="l"/>
            <a:r>
              <a:rPr sz="1300" b="0">
                <a:solidFill>
                  <a:srgbClr val="F8FAFC"/>
                </a:solidFill>
                <a:latin typeface="Segoe UI"/>
              </a:rPr>
              <a:t>—</a:t>
            </a:r>
          </a:p>
        </p:txBody>
      </p:sp>
      <p:sp>
        <p:nvSpPr>
          <p:cNvPr id="83" name="Rectangle 82"/>
          <p:cNvSpPr/>
          <p:nvPr/>
        </p:nvSpPr>
        <p:spPr>
          <a:xfrm>
            <a:off x="8759952" y="4142231"/>
            <a:ext cx="1371600" cy="53035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96528" y="4224527"/>
            <a:ext cx="1371600" cy="384048"/>
          </a:xfrm>
          <a:prstGeom prst="rect">
            <a:avLst/>
          </a:prstGeom>
          <a:noFill/>
        </p:spPr>
        <p:txBody>
          <a:bodyPr wrap="square">
            <a:spAutoFit/>
          </a:bodyPr>
          <a:lstStyle/>
          <a:p>
            <a:pPr algn="l"/>
            <a:r>
              <a:rPr sz="1300" b="0">
                <a:solidFill>
                  <a:srgbClr val="10B981"/>
                </a:solidFill>
                <a:latin typeface="Segoe UI"/>
              </a:rPr>
              <a:t>Normal</a:t>
            </a:r>
          </a:p>
        </p:txBody>
      </p:sp>
      <p:sp>
        <p:nvSpPr>
          <p:cNvPr id="85" name="Rectangle 84"/>
          <p:cNvSpPr/>
          <p:nvPr/>
        </p:nvSpPr>
        <p:spPr>
          <a:xfrm>
            <a:off x="274320" y="4800600"/>
            <a:ext cx="11612880" cy="1783080"/>
          </a:xfrm>
          <a:prstGeom prst="rect">
            <a:avLst/>
          </a:prstGeom>
          <a:solidFill>
            <a:srgbClr val="1A080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65760" y="4892040"/>
            <a:ext cx="11430000" cy="347472"/>
          </a:xfrm>
          <a:prstGeom prst="rect">
            <a:avLst/>
          </a:prstGeom>
          <a:noFill/>
        </p:spPr>
        <p:txBody>
          <a:bodyPr wrap="square">
            <a:spAutoFit/>
          </a:bodyPr>
          <a:lstStyle/>
          <a:p>
            <a:pPr algn="l"/>
            <a:r>
              <a:rPr sz="1300" b="1">
                <a:solidFill>
                  <a:srgbClr val="EF4444"/>
                </a:solidFill>
                <a:latin typeface="Segoe UI"/>
              </a:rPr>
              <a:t>Scenario 4 — Multi-Stage Attack (Key Result)</a:t>
            </a:r>
          </a:p>
        </p:txBody>
      </p:sp>
      <p:sp>
        <p:nvSpPr>
          <p:cNvPr id="87" name="TextBox 86"/>
          <p:cNvSpPr txBox="1"/>
          <p:nvPr/>
        </p:nvSpPr>
        <p:spPr>
          <a:xfrm>
            <a:off x="365760" y="5285232"/>
            <a:ext cx="11430000" cy="1188720"/>
          </a:xfrm>
          <a:prstGeom prst="rect">
            <a:avLst/>
          </a:prstGeom>
          <a:noFill/>
        </p:spPr>
        <p:txBody>
          <a:bodyPr wrap="square">
            <a:spAutoFit/>
          </a:bodyPr>
          <a:lstStyle/>
          <a:p>
            <a:pPr algn="l"/>
            <a:r>
              <a:rPr sz="1200" b="0">
                <a:solidFill>
                  <a:srgbClr val="F8FAFC"/>
                </a:solidFill>
                <a:latin typeface="Segoe UI"/>
              </a:rPr>
              <a:t>All 3 attack stages (port scan, host scan, exfiltration) happen within 275 seconds. The 5-minute correlation window groups them into ONE Critical incident (score = 90). Attacker IP: 10.0.1.99   |   Total bytes: 6,301,344   |   MITRE: T1046, T1018, T1048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Evaluation Metrics</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Ground-truth comparison at the individual flow level</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5486400" cy="59436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499616"/>
            <a:ext cx="5303520" cy="256032"/>
          </a:xfrm>
          <a:prstGeom prst="rect">
            <a:avLst/>
          </a:prstGeom>
          <a:noFill/>
        </p:spPr>
        <p:txBody>
          <a:bodyPr wrap="square">
            <a:spAutoFit/>
          </a:bodyPr>
          <a:lstStyle/>
          <a:p>
            <a:pPr algn="l"/>
            <a:r>
              <a:rPr sz="1200" b="1">
                <a:solidFill>
                  <a:srgbClr val="38BDF8"/>
                </a:solidFill>
                <a:latin typeface="Segoe UI"/>
              </a:rPr>
              <a:t>True Positive (TP)</a:t>
            </a:r>
          </a:p>
        </p:txBody>
      </p:sp>
      <p:sp>
        <p:nvSpPr>
          <p:cNvPr id="9" name="TextBox 8"/>
          <p:cNvSpPr txBox="1"/>
          <p:nvPr/>
        </p:nvSpPr>
        <p:spPr>
          <a:xfrm>
            <a:off x="438912" y="1746504"/>
            <a:ext cx="5303520" cy="256032"/>
          </a:xfrm>
          <a:prstGeom prst="rect">
            <a:avLst/>
          </a:prstGeom>
          <a:noFill/>
        </p:spPr>
        <p:txBody>
          <a:bodyPr wrap="square">
            <a:spAutoFit/>
          </a:bodyPr>
          <a:lstStyle/>
          <a:p>
            <a:pPr algn="l"/>
            <a:r>
              <a:rPr sz="1100" b="0">
                <a:solidFill>
                  <a:srgbClr val="94A3B8"/>
                </a:solidFill>
                <a:latin typeface="Segoe UI"/>
              </a:rPr>
              <a:t>An attack flow that the tool correctly flagged as suspicious.</a:t>
            </a:r>
          </a:p>
        </p:txBody>
      </p:sp>
      <p:sp>
        <p:nvSpPr>
          <p:cNvPr id="10" name="Rectangle 9"/>
          <p:cNvSpPr/>
          <p:nvPr/>
        </p:nvSpPr>
        <p:spPr>
          <a:xfrm>
            <a:off x="365760" y="2121408"/>
            <a:ext cx="5486400" cy="59436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2157984"/>
            <a:ext cx="5303520" cy="256032"/>
          </a:xfrm>
          <a:prstGeom prst="rect">
            <a:avLst/>
          </a:prstGeom>
          <a:noFill/>
        </p:spPr>
        <p:txBody>
          <a:bodyPr wrap="square">
            <a:spAutoFit/>
          </a:bodyPr>
          <a:lstStyle/>
          <a:p>
            <a:pPr algn="l"/>
            <a:r>
              <a:rPr sz="1200" b="1">
                <a:solidFill>
                  <a:srgbClr val="38BDF8"/>
                </a:solidFill>
                <a:latin typeface="Segoe UI"/>
              </a:rPr>
              <a:t>False Positive (FP)</a:t>
            </a:r>
          </a:p>
        </p:txBody>
      </p:sp>
      <p:sp>
        <p:nvSpPr>
          <p:cNvPr id="12" name="TextBox 11"/>
          <p:cNvSpPr txBox="1"/>
          <p:nvPr/>
        </p:nvSpPr>
        <p:spPr>
          <a:xfrm>
            <a:off x="438912" y="2404872"/>
            <a:ext cx="5303520" cy="256032"/>
          </a:xfrm>
          <a:prstGeom prst="rect">
            <a:avLst/>
          </a:prstGeom>
          <a:noFill/>
        </p:spPr>
        <p:txBody>
          <a:bodyPr wrap="square">
            <a:spAutoFit/>
          </a:bodyPr>
          <a:lstStyle/>
          <a:p>
            <a:pPr algn="l"/>
            <a:r>
              <a:rPr sz="1100" b="0">
                <a:solidFill>
                  <a:srgbClr val="94A3B8"/>
                </a:solidFill>
                <a:latin typeface="Segoe UI"/>
              </a:rPr>
              <a:t>A normal flow that the tool incorrectly flagged as suspicious.</a:t>
            </a:r>
          </a:p>
        </p:txBody>
      </p:sp>
      <p:sp>
        <p:nvSpPr>
          <p:cNvPr id="13" name="Rectangle 12"/>
          <p:cNvSpPr/>
          <p:nvPr/>
        </p:nvSpPr>
        <p:spPr>
          <a:xfrm>
            <a:off x="365760" y="2779776"/>
            <a:ext cx="5486400" cy="59436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2816352"/>
            <a:ext cx="5303520" cy="256032"/>
          </a:xfrm>
          <a:prstGeom prst="rect">
            <a:avLst/>
          </a:prstGeom>
          <a:noFill/>
        </p:spPr>
        <p:txBody>
          <a:bodyPr wrap="square">
            <a:spAutoFit/>
          </a:bodyPr>
          <a:lstStyle/>
          <a:p>
            <a:pPr algn="l"/>
            <a:r>
              <a:rPr sz="1200" b="1">
                <a:solidFill>
                  <a:srgbClr val="38BDF8"/>
                </a:solidFill>
                <a:latin typeface="Segoe UI"/>
              </a:rPr>
              <a:t>False Negative (FN)</a:t>
            </a:r>
          </a:p>
        </p:txBody>
      </p:sp>
      <p:sp>
        <p:nvSpPr>
          <p:cNvPr id="15" name="TextBox 14"/>
          <p:cNvSpPr txBox="1"/>
          <p:nvPr/>
        </p:nvSpPr>
        <p:spPr>
          <a:xfrm>
            <a:off x="438912" y="3063240"/>
            <a:ext cx="5303520" cy="256032"/>
          </a:xfrm>
          <a:prstGeom prst="rect">
            <a:avLst/>
          </a:prstGeom>
          <a:noFill/>
        </p:spPr>
        <p:txBody>
          <a:bodyPr wrap="square">
            <a:spAutoFit/>
          </a:bodyPr>
          <a:lstStyle/>
          <a:p>
            <a:pPr algn="l"/>
            <a:r>
              <a:rPr sz="1100" b="0">
                <a:solidFill>
                  <a:srgbClr val="94A3B8"/>
                </a:solidFill>
                <a:latin typeface="Segoe UI"/>
              </a:rPr>
              <a:t>An attack flow that the tool missed and did not flag.</a:t>
            </a:r>
          </a:p>
        </p:txBody>
      </p:sp>
      <p:sp>
        <p:nvSpPr>
          <p:cNvPr id="16" name="Rectangle 15"/>
          <p:cNvSpPr/>
          <p:nvPr/>
        </p:nvSpPr>
        <p:spPr>
          <a:xfrm>
            <a:off x="6126480" y="1463040"/>
            <a:ext cx="5486400" cy="59436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1499616"/>
            <a:ext cx="5303520" cy="256032"/>
          </a:xfrm>
          <a:prstGeom prst="rect">
            <a:avLst/>
          </a:prstGeom>
          <a:noFill/>
        </p:spPr>
        <p:txBody>
          <a:bodyPr wrap="square">
            <a:spAutoFit/>
          </a:bodyPr>
          <a:lstStyle/>
          <a:p>
            <a:pPr algn="l"/>
            <a:r>
              <a:rPr sz="1200" b="1">
                <a:solidFill>
                  <a:srgbClr val="38BDF8"/>
                </a:solidFill>
                <a:latin typeface="Segoe UI"/>
              </a:rPr>
              <a:t>Precision</a:t>
            </a:r>
          </a:p>
        </p:txBody>
      </p:sp>
      <p:sp>
        <p:nvSpPr>
          <p:cNvPr id="18" name="TextBox 17"/>
          <p:cNvSpPr txBox="1"/>
          <p:nvPr/>
        </p:nvSpPr>
        <p:spPr>
          <a:xfrm>
            <a:off x="6199632" y="1746504"/>
            <a:ext cx="5303520" cy="256032"/>
          </a:xfrm>
          <a:prstGeom prst="rect">
            <a:avLst/>
          </a:prstGeom>
          <a:noFill/>
        </p:spPr>
        <p:txBody>
          <a:bodyPr wrap="square">
            <a:spAutoFit/>
          </a:bodyPr>
          <a:lstStyle/>
          <a:p>
            <a:pPr algn="l"/>
            <a:r>
              <a:rPr sz="1100" b="0">
                <a:solidFill>
                  <a:srgbClr val="94A3B8"/>
                </a:solidFill>
                <a:latin typeface="Segoe UI"/>
              </a:rPr>
              <a:t>TP / (TP + FP)  — How accurate are the flags raised?</a:t>
            </a:r>
          </a:p>
        </p:txBody>
      </p:sp>
      <p:sp>
        <p:nvSpPr>
          <p:cNvPr id="19" name="Rectangle 18"/>
          <p:cNvSpPr/>
          <p:nvPr/>
        </p:nvSpPr>
        <p:spPr>
          <a:xfrm>
            <a:off x="6126480" y="2121408"/>
            <a:ext cx="5486400" cy="59436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9632" y="2157984"/>
            <a:ext cx="5303520" cy="256032"/>
          </a:xfrm>
          <a:prstGeom prst="rect">
            <a:avLst/>
          </a:prstGeom>
          <a:noFill/>
        </p:spPr>
        <p:txBody>
          <a:bodyPr wrap="square">
            <a:spAutoFit/>
          </a:bodyPr>
          <a:lstStyle/>
          <a:p>
            <a:pPr algn="l"/>
            <a:r>
              <a:rPr sz="1200" b="1">
                <a:solidFill>
                  <a:srgbClr val="38BDF8"/>
                </a:solidFill>
                <a:latin typeface="Segoe UI"/>
              </a:rPr>
              <a:t>Recall</a:t>
            </a:r>
          </a:p>
        </p:txBody>
      </p:sp>
      <p:sp>
        <p:nvSpPr>
          <p:cNvPr id="21" name="TextBox 20"/>
          <p:cNvSpPr txBox="1"/>
          <p:nvPr/>
        </p:nvSpPr>
        <p:spPr>
          <a:xfrm>
            <a:off x="6199632" y="2404872"/>
            <a:ext cx="5303520" cy="256032"/>
          </a:xfrm>
          <a:prstGeom prst="rect">
            <a:avLst/>
          </a:prstGeom>
          <a:noFill/>
        </p:spPr>
        <p:txBody>
          <a:bodyPr wrap="square">
            <a:spAutoFit/>
          </a:bodyPr>
          <a:lstStyle/>
          <a:p>
            <a:pPr algn="l"/>
            <a:r>
              <a:rPr sz="1100" b="0">
                <a:solidFill>
                  <a:srgbClr val="94A3B8"/>
                </a:solidFill>
                <a:latin typeface="Segoe UI"/>
              </a:rPr>
              <a:t>TP / (TP + FN)  — What fraction of attacks were caught?</a:t>
            </a:r>
          </a:p>
        </p:txBody>
      </p:sp>
      <p:sp>
        <p:nvSpPr>
          <p:cNvPr id="22" name="Rectangle 21"/>
          <p:cNvSpPr/>
          <p:nvPr/>
        </p:nvSpPr>
        <p:spPr>
          <a:xfrm>
            <a:off x="6126480" y="2779776"/>
            <a:ext cx="5486400" cy="59436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2816352"/>
            <a:ext cx="5303520" cy="256032"/>
          </a:xfrm>
          <a:prstGeom prst="rect">
            <a:avLst/>
          </a:prstGeom>
          <a:noFill/>
        </p:spPr>
        <p:txBody>
          <a:bodyPr wrap="square">
            <a:spAutoFit/>
          </a:bodyPr>
          <a:lstStyle/>
          <a:p>
            <a:pPr algn="l"/>
            <a:r>
              <a:rPr sz="1200" b="1">
                <a:solidFill>
                  <a:srgbClr val="38BDF8"/>
                </a:solidFill>
                <a:latin typeface="Segoe UI"/>
              </a:rPr>
              <a:t>F1 Score</a:t>
            </a:r>
          </a:p>
        </p:txBody>
      </p:sp>
      <p:sp>
        <p:nvSpPr>
          <p:cNvPr id="24" name="TextBox 23"/>
          <p:cNvSpPr txBox="1"/>
          <p:nvPr/>
        </p:nvSpPr>
        <p:spPr>
          <a:xfrm>
            <a:off x="6199632" y="3063240"/>
            <a:ext cx="5303520" cy="256032"/>
          </a:xfrm>
          <a:prstGeom prst="rect">
            <a:avLst/>
          </a:prstGeom>
          <a:noFill/>
        </p:spPr>
        <p:txBody>
          <a:bodyPr wrap="square">
            <a:spAutoFit/>
          </a:bodyPr>
          <a:lstStyle/>
          <a:p>
            <a:pPr algn="l"/>
            <a:r>
              <a:rPr sz="1100" b="0">
                <a:solidFill>
                  <a:srgbClr val="94A3B8"/>
                </a:solidFill>
                <a:latin typeface="Segoe UI"/>
              </a:rPr>
              <a:t>Harmonic mean of precision and recall.</a:t>
            </a:r>
          </a:p>
        </p:txBody>
      </p:sp>
      <p:sp>
        <p:nvSpPr>
          <p:cNvPr id="25" name="Rectangle 24"/>
          <p:cNvSpPr/>
          <p:nvPr/>
        </p:nvSpPr>
        <p:spPr>
          <a:xfrm>
            <a:off x="274320" y="3547872"/>
            <a:ext cx="7772400" cy="384048"/>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 y="3602736"/>
            <a:ext cx="2560320" cy="292608"/>
          </a:xfrm>
          <a:prstGeom prst="rect">
            <a:avLst/>
          </a:prstGeom>
          <a:noFill/>
        </p:spPr>
        <p:txBody>
          <a:bodyPr wrap="square">
            <a:spAutoFit/>
          </a:bodyPr>
          <a:lstStyle/>
          <a:p>
            <a:pPr algn="l"/>
            <a:r>
              <a:rPr sz="1100" b="1">
                <a:solidFill>
                  <a:srgbClr val="38BDF8"/>
                </a:solidFill>
                <a:latin typeface="Segoe UI"/>
              </a:rPr>
              <a:t>Scenario</a:t>
            </a:r>
          </a:p>
        </p:txBody>
      </p:sp>
      <p:sp>
        <p:nvSpPr>
          <p:cNvPr id="27" name="TextBox 26"/>
          <p:cNvSpPr txBox="1"/>
          <p:nvPr/>
        </p:nvSpPr>
        <p:spPr>
          <a:xfrm>
            <a:off x="2880360" y="3602736"/>
            <a:ext cx="640080" cy="292608"/>
          </a:xfrm>
          <a:prstGeom prst="rect">
            <a:avLst/>
          </a:prstGeom>
          <a:noFill/>
        </p:spPr>
        <p:txBody>
          <a:bodyPr wrap="square">
            <a:spAutoFit/>
          </a:bodyPr>
          <a:lstStyle/>
          <a:p>
            <a:pPr algn="l"/>
            <a:r>
              <a:rPr sz="1100" b="1">
                <a:solidFill>
                  <a:srgbClr val="38BDF8"/>
                </a:solidFill>
                <a:latin typeface="Segoe UI"/>
              </a:rPr>
              <a:t>TP</a:t>
            </a:r>
          </a:p>
        </p:txBody>
      </p:sp>
      <p:sp>
        <p:nvSpPr>
          <p:cNvPr id="28" name="TextBox 27"/>
          <p:cNvSpPr txBox="1"/>
          <p:nvPr/>
        </p:nvSpPr>
        <p:spPr>
          <a:xfrm>
            <a:off x="3538728" y="3602736"/>
            <a:ext cx="640080" cy="292608"/>
          </a:xfrm>
          <a:prstGeom prst="rect">
            <a:avLst/>
          </a:prstGeom>
          <a:noFill/>
        </p:spPr>
        <p:txBody>
          <a:bodyPr wrap="square">
            <a:spAutoFit/>
          </a:bodyPr>
          <a:lstStyle/>
          <a:p>
            <a:pPr algn="l"/>
            <a:r>
              <a:rPr sz="1100" b="1">
                <a:solidFill>
                  <a:srgbClr val="38BDF8"/>
                </a:solidFill>
                <a:latin typeface="Segoe UI"/>
              </a:rPr>
              <a:t>FP</a:t>
            </a:r>
          </a:p>
        </p:txBody>
      </p:sp>
      <p:sp>
        <p:nvSpPr>
          <p:cNvPr id="29" name="TextBox 28"/>
          <p:cNvSpPr txBox="1"/>
          <p:nvPr/>
        </p:nvSpPr>
        <p:spPr>
          <a:xfrm>
            <a:off x="4197096" y="3602736"/>
            <a:ext cx="640080" cy="292608"/>
          </a:xfrm>
          <a:prstGeom prst="rect">
            <a:avLst/>
          </a:prstGeom>
          <a:noFill/>
        </p:spPr>
        <p:txBody>
          <a:bodyPr wrap="square">
            <a:spAutoFit/>
          </a:bodyPr>
          <a:lstStyle/>
          <a:p>
            <a:pPr algn="l"/>
            <a:r>
              <a:rPr sz="1100" b="1">
                <a:solidFill>
                  <a:srgbClr val="38BDF8"/>
                </a:solidFill>
                <a:latin typeface="Segoe UI"/>
              </a:rPr>
              <a:t>FN</a:t>
            </a:r>
          </a:p>
        </p:txBody>
      </p:sp>
      <p:sp>
        <p:nvSpPr>
          <p:cNvPr id="30" name="TextBox 29"/>
          <p:cNvSpPr txBox="1"/>
          <p:nvPr/>
        </p:nvSpPr>
        <p:spPr>
          <a:xfrm>
            <a:off x="4855464" y="3602736"/>
            <a:ext cx="1005840" cy="292608"/>
          </a:xfrm>
          <a:prstGeom prst="rect">
            <a:avLst/>
          </a:prstGeom>
          <a:noFill/>
        </p:spPr>
        <p:txBody>
          <a:bodyPr wrap="square">
            <a:spAutoFit/>
          </a:bodyPr>
          <a:lstStyle/>
          <a:p>
            <a:pPr algn="l"/>
            <a:r>
              <a:rPr sz="1100" b="1">
                <a:solidFill>
                  <a:srgbClr val="38BDF8"/>
                </a:solidFill>
                <a:latin typeface="Segoe UI"/>
              </a:rPr>
              <a:t>Precision</a:t>
            </a:r>
          </a:p>
        </p:txBody>
      </p:sp>
      <p:sp>
        <p:nvSpPr>
          <p:cNvPr id="31" name="TextBox 30"/>
          <p:cNvSpPr txBox="1"/>
          <p:nvPr/>
        </p:nvSpPr>
        <p:spPr>
          <a:xfrm>
            <a:off x="5879592" y="3602736"/>
            <a:ext cx="1005840" cy="292608"/>
          </a:xfrm>
          <a:prstGeom prst="rect">
            <a:avLst/>
          </a:prstGeom>
          <a:noFill/>
        </p:spPr>
        <p:txBody>
          <a:bodyPr wrap="square">
            <a:spAutoFit/>
          </a:bodyPr>
          <a:lstStyle/>
          <a:p>
            <a:pPr algn="l"/>
            <a:r>
              <a:rPr sz="1100" b="1">
                <a:solidFill>
                  <a:srgbClr val="38BDF8"/>
                </a:solidFill>
                <a:latin typeface="Segoe UI"/>
              </a:rPr>
              <a:t>Recall</a:t>
            </a:r>
          </a:p>
        </p:txBody>
      </p:sp>
      <p:sp>
        <p:nvSpPr>
          <p:cNvPr id="32" name="TextBox 31"/>
          <p:cNvSpPr txBox="1"/>
          <p:nvPr/>
        </p:nvSpPr>
        <p:spPr>
          <a:xfrm>
            <a:off x="6903720" y="3602736"/>
            <a:ext cx="1005840" cy="292608"/>
          </a:xfrm>
          <a:prstGeom prst="rect">
            <a:avLst/>
          </a:prstGeom>
          <a:noFill/>
        </p:spPr>
        <p:txBody>
          <a:bodyPr wrap="square">
            <a:spAutoFit/>
          </a:bodyPr>
          <a:lstStyle/>
          <a:p>
            <a:pPr algn="l"/>
            <a:r>
              <a:rPr sz="1100" b="1">
                <a:solidFill>
                  <a:srgbClr val="38BDF8"/>
                </a:solidFill>
                <a:latin typeface="Segoe UI"/>
              </a:rPr>
              <a:t>F1</a:t>
            </a:r>
          </a:p>
        </p:txBody>
      </p:sp>
      <p:sp>
        <p:nvSpPr>
          <p:cNvPr id="33" name="Rectangle 32"/>
          <p:cNvSpPr/>
          <p:nvPr/>
        </p:nvSpPr>
        <p:spPr>
          <a:xfrm>
            <a:off x="274320" y="3968496"/>
            <a:ext cx="256032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752" y="4041648"/>
            <a:ext cx="2560320" cy="310896"/>
          </a:xfrm>
          <a:prstGeom prst="rect">
            <a:avLst/>
          </a:prstGeom>
          <a:noFill/>
        </p:spPr>
        <p:txBody>
          <a:bodyPr wrap="square">
            <a:spAutoFit/>
          </a:bodyPr>
          <a:lstStyle/>
          <a:p>
            <a:pPr algn="l"/>
            <a:r>
              <a:rPr sz="1200" b="0">
                <a:solidFill>
                  <a:srgbClr val="F8FAFC"/>
                </a:solidFill>
                <a:latin typeface="Segoe UI"/>
              </a:rPr>
              <a:t>1 — Port Scan</a:t>
            </a:r>
          </a:p>
        </p:txBody>
      </p:sp>
      <p:sp>
        <p:nvSpPr>
          <p:cNvPr id="35" name="Rectangle 34"/>
          <p:cNvSpPr/>
          <p:nvPr/>
        </p:nvSpPr>
        <p:spPr>
          <a:xfrm>
            <a:off x="2852928" y="3968496"/>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80360" y="4041648"/>
            <a:ext cx="640080" cy="310896"/>
          </a:xfrm>
          <a:prstGeom prst="rect">
            <a:avLst/>
          </a:prstGeom>
          <a:noFill/>
        </p:spPr>
        <p:txBody>
          <a:bodyPr wrap="square">
            <a:spAutoFit/>
          </a:bodyPr>
          <a:lstStyle/>
          <a:p>
            <a:pPr algn="l"/>
            <a:r>
              <a:rPr sz="1200" b="0">
                <a:solidFill>
                  <a:srgbClr val="F8FAFC"/>
                </a:solidFill>
                <a:latin typeface="Segoe UI"/>
              </a:rPr>
              <a:t>18</a:t>
            </a:r>
          </a:p>
        </p:txBody>
      </p:sp>
      <p:sp>
        <p:nvSpPr>
          <p:cNvPr id="37" name="Rectangle 36"/>
          <p:cNvSpPr/>
          <p:nvPr/>
        </p:nvSpPr>
        <p:spPr>
          <a:xfrm>
            <a:off x="3511296" y="3968496"/>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38728" y="4041648"/>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39" name="Rectangle 38"/>
          <p:cNvSpPr/>
          <p:nvPr/>
        </p:nvSpPr>
        <p:spPr>
          <a:xfrm>
            <a:off x="4169664" y="3968496"/>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97096" y="4041648"/>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41" name="Rectangle 40"/>
          <p:cNvSpPr/>
          <p:nvPr/>
        </p:nvSpPr>
        <p:spPr>
          <a:xfrm>
            <a:off x="4828032" y="3968496"/>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55464" y="4041648"/>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43" name="Rectangle 42"/>
          <p:cNvSpPr/>
          <p:nvPr/>
        </p:nvSpPr>
        <p:spPr>
          <a:xfrm>
            <a:off x="5852160" y="3968496"/>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79592" y="4041648"/>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45" name="Rectangle 44"/>
          <p:cNvSpPr/>
          <p:nvPr/>
        </p:nvSpPr>
        <p:spPr>
          <a:xfrm>
            <a:off x="6876288" y="3968496"/>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03720" y="4041648"/>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47" name="Rectangle 46"/>
          <p:cNvSpPr/>
          <p:nvPr/>
        </p:nvSpPr>
        <p:spPr>
          <a:xfrm>
            <a:off x="274320" y="4443984"/>
            <a:ext cx="256032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1752" y="4517136"/>
            <a:ext cx="2560320" cy="310896"/>
          </a:xfrm>
          <a:prstGeom prst="rect">
            <a:avLst/>
          </a:prstGeom>
          <a:noFill/>
        </p:spPr>
        <p:txBody>
          <a:bodyPr wrap="square">
            <a:spAutoFit/>
          </a:bodyPr>
          <a:lstStyle/>
          <a:p>
            <a:pPr algn="l"/>
            <a:r>
              <a:rPr sz="1200" b="0">
                <a:solidFill>
                  <a:srgbClr val="F8FAFC"/>
                </a:solidFill>
                <a:latin typeface="Segoe UI"/>
              </a:rPr>
              <a:t>2 — Host Scan</a:t>
            </a:r>
          </a:p>
        </p:txBody>
      </p:sp>
      <p:sp>
        <p:nvSpPr>
          <p:cNvPr id="49" name="Rectangle 48"/>
          <p:cNvSpPr/>
          <p:nvPr/>
        </p:nvSpPr>
        <p:spPr>
          <a:xfrm>
            <a:off x="2852928" y="4443984"/>
            <a:ext cx="64008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60" y="4517136"/>
            <a:ext cx="640080" cy="310896"/>
          </a:xfrm>
          <a:prstGeom prst="rect">
            <a:avLst/>
          </a:prstGeom>
          <a:noFill/>
        </p:spPr>
        <p:txBody>
          <a:bodyPr wrap="square">
            <a:spAutoFit/>
          </a:bodyPr>
          <a:lstStyle/>
          <a:p>
            <a:pPr algn="l"/>
            <a:r>
              <a:rPr sz="1200" b="0">
                <a:solidFill>
                  <a:srgbClr val="F8FAFC"/>
                </a:solidFill>
                <a:latin typeface="Segoe UI"/>
              </a:rPr>
              <a:t>12</a:t>
            </a:r>
          </a:p>
        </p:txBody>
      </p:sp>
      <p:sp>
        <p:nvSpPr>
          <p:cNvPr id="51" name="Rectangle 50"/>
          <p:cNvSpPr/>
          <p:nvPr/>
        </p:nvSpPr>
        <p:spPr>
          <a:xfrm>
            <a:off x="3511296" y="4443984"/>
            <a:ext cx="64008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38728" y="4517136"/>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53" name="Rectangle 52"/>
          <p:cNvSpPr/>
          <p:nvPr/>
        </p:nvSpPr>
        <p:spPr>
          <a:xfrm>
            <a:off x="4169664" y="4443984"/>
            <a:ext cx="64008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97096" y="4517136"/>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55" name="Rectangle 54"/>
          <p:cNvSpPr/>
          <p:nvPr/>
        </p:nvSpPr>
        <p:spPr>
          <a:xfrm>
            <a:off x="4828032" y="4443984"/>
            <a:ext cx="100584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55464" y="4517136"/>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57" name="Rectangle 56"/>
          <p:cNvSpPr/>
          <p:nvPr/>
        </p:nvSpPr>
        <p:spPr>
          <a:xfrm>
            <a:off x="5852160" y="4443984"/>
            <a:ext cx="100584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79592" y="4517136"/>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59" name="Rectangle 58"/>
          <p:cNvSpPr/>
          <p:nvPr/>
        </p:nvSpPr>
        <p:spPr>
          <a:xfrm>
            <a:off x="6876288" y="4443984"/>
            <a:ext cx="100584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03720" y="4517136"/>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61" name="Rectangle 60"/>
          <p:cNvSpPr/>
          <p:nvPr/>
        </p:nvSpPr>
        <p:spPr>
          <a:xfrm>
            <a:off x="274320" y="4919472"/>
            <a:ext cx="256032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01752" y="4992624"/>
            <a:ext cx="2560320" cy="310896"/>
          </a:xfrm>
          <a:prstGeom prst="rect">
            <a:avLst/>
          </a:prstGeom>
          <a:noFill/>
        </p:spPr>
        <p:txBody>
          <a:bodyPr wrap="square">
            <a:spAutoFit/>
          </a:bodyPr>
          <a:lstStyle/>
          <a:p>
            <a:pPr algn="l"/>
            <a:r>
              <a:rPr sz="1200" b="0">
                <a:solidFill>
                  <a:srgbClr val="F8FAFC"/>
                </a:solidFill>
                <a:latin typeface="Segoe UI"/>
              </a:rPr>
              <a:t>3 — Exfiltration</a:t>
            </a:r>
          </a:p>
        </p:txBody>
      </p:sp>
      <p:sp>
        <p:nvSpPr>
          <p:cNvPr id="63" name="Rectangle 62"/>
          <p:cNvSpPr/>
          <p:nvPr/>
        </p:nvSpPr>
        <p:spPr>
          <a:xfrm>
            <a:off x="2852928" y="4919472"/>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80360" y="4992624"/>
            <a:ext cx="640080" cy="310896"/>
          </a:xfrm>
          <a:prstGeom prst="rect">
            <a:avLst/>
          </a:prstGeom>
          <a:noFill/>
        </p:spPr>
        <p:txBody>
          <a:bodyPr wrap="square">
            <a:spAutoFit/>
          </a:bodyPr>
          <a:lstStyle/>
          <a:p>
            <a:pPr algn="l"/>
            <a:r>
              <a:rPr sz="1200" b="0">
                <a:solidFill>
                  <a:srgbClr val="F8FAFC"/>
                </a:solidFill>
                <a:latin typeface="Segoe UI"/>
              </a:rPr>
              <a:t>4</a:t>
            </a:r>
          </a:p>
        </p:txBody>
      </p:sp>
      <p:sp>
        <p:nvSpPr>
          <p:cNvPr id="65" name="Rectangle 64"/>
          <p:cNvSpPr/>
          <p:nvPr/>
        </p:nvSpPr>
        <p:spPr>
          <a:xfrm>
            <a:off x="3511296" y="4919472"/>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538728" y="4992624"/>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67" name="Rectangle 66"/>
          <p:cNvSpPr/>
          <p:nvPr/>
        </p:nvSpPr>
        <p:spPr>
          <a:xfrm>
            <a:off x="4169664" y="4919472"/>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197096" y="4992624"/>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69" name="Rectangle 68"/>
          <p:cNvSpPr/>
          <p:nvPr/>
        </p:nvSpPr>
        <p:spPr>
          <a:xfrm>
            <a:off x="4828032" y="4919472"/>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5464" y="4992624"/>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71" name="Rectangle 70"/>
          <p:cNvSpPr/>
          <p:nvPr/>
        </p:nvSpPr>
        <p:spPr>
          <a:xfrm>
            <a:off x="5852160" y="4919472"/>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79592" y="4992624"/>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73" name="Rectangle 72"/>
          <p:cNvSpPr/>
          <p:nvPr/>
        </p:nvSpPr>
        <p:spPr>
          <a:xfrm>
            <a:off x="6876288" y="4919472"/>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903720" y="4992624"/>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75" name="Rectangle 74"/>
          <p:cNvSpPr/>
          <p:nvPr/>
        </p:nvSpPr>
        <p:spPr>
          <a:xfrm>
            <a:off x="274320" y="5394960"/>
            <a:ext cx="256032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01752" y="5468112"/>
            <a:ext cx="2560320" cy="310896"/>
          </a:xfrm>
          <a:prstGeom prst="rect">
            <a:avLst/>
          </a:prstGeom>
          <a:noFill/>
        </p:spPr>
        <p:txBody>
          <a:bodyPr wrap="square">
            <a:spAutoFit/>
          </a:bodyPr>
          <a:lstStyle/>
          <a:p>
            <a:pPr algn="l"/>
            <a:r>
              <a:rPr sz="1200" b="0">
                <a:solidFill>
                  <a:srgbClr val="F8FAFC"/>
                </a:solidFill>
                <a:latin typeface="Segoe UI"/>
              </a:rPr>
              <a:t>4 — Multi-Stage</a:t>
            </a:r>
          </a:p>
        </p:txBody>
      </p:sp>
      <p:sp>
        <p:nvSpPr>
          <p:cNvPr id="77" name="Rectangle 76"/>
          <p:cNvSpPr/>
          <p:nvPr/>
        </p:nvSpPr>
        <p:spPr>
          <a:xfrm>
            <a:off x="2852928" y="5394960"/>
            <a:ext cx="64008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880360" y="5468112"/>
            <a:ext cx="640080" cy="310896"/>
          </a:xfrm>
          <a:prstGeom prst="rect">
            <a:avLst/>
          </a:prstGeom>
          <a:noFill/>
        </p:spPr>
        <p:txBody>
          <a:bodyPr wrap="square">
            <a:spAutoFit/>
          </a:bodyPr>
          <a:lstStyle/>
          <a:p>
            <a:pPr algn="l"/>
            <a:r>
              <a:rPr sz="1200" b="0">
                <a:solidFill>
                  <a:srgbClr val="F8FAFC"/>
                </a:solidFill>
                <a:latin typeface="Segoe UI"/>
              </a:rPr>
              <a:t>27</a:t>
            </a:r>
          </a:p>
        </p:txBody>
      </p:sp>
      <p:sp>
        <p:nvSpPr>
          <p:cNvPr id="79" name="Rectangle 78"/>
          <p:cNvSpPr/>
          <p:nvPr/>
        </p:nvSpPr>
        <p:spPr>
          <a:xfrm>
            <a:off x="3511296" y="5394960"/>
            <a:ext cx="64008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538728" y="5468112"/>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81" name="Rectangle 80"/>
          <p:cNvSpPr/>
          <p:nvPr/>
        </p:nvSpPr>
        <p:spPr>
          <a:xfrm>
            <a:off x="4169664" y="5394960"/>
            <a:ext cx="64008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197096" y="5468112"/>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83" name="Rectangle 82"/>
          <p:cNvSpPr/>
          <p:nvPr/>
        </p:nvSpPr>
        <p:spPr>
          <a:xfrm>
            <a:off x="4828032" y="5394960"/>
            <a:ext cx="100584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855464" y="5468112"/>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85" name="Rectangle 84"/>
          <p:cNvSpPr/>
          <p:nvPr/>
        </p:nvSpPr>
        <p:spPr>
          <a:xfrm>
            <a:off x="5852160" y="5394960"/>
            <a:ext cx="100584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879592" y="5468112"/>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87" name="Rectangle 86"/>
          <p:cNvSpPr/>
          <p:nvPr/>
        </p:nvSpPr>
        <p:spPr>
          <a:xfrm>
            <a:off x="6876288" y="5394960"/>
            <a:ext cx="1005840" cy="438912"/>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903720" y="5468112"/>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89" name="Rectangle 88"/>
          <p:cNvSpPr/>
          <p:nvPr/>
        </p:nvSpPr>
        <p:spPr>
          <a:xfrm>
            <a:off x="274320" y="5870448"/>
            <a:ext cx="256032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01752" y="5943600"/>
            <a:ext cx="2560320" cy="310896"/>
          </a:xfrm>
          <a:prstGeom prst="rect">
            <a:avLst/>
          </a:prstGeom>
          <a:noFill/>
        </p:spPr>
        <p:txBody>
          <a:bodyPr wrap="square">
            <a:spAutoFit/>
          </a:bodyPr>
          <a:lstStyle/>
          <a:p>
            <a:pPr algn="l"/>
            <a:r>
              <a:rPr sz="1200" b="0">
                <a:solidFill>
                  <a:srgbClr val="F8FAFC"/>
                </a:solidFill>
                <a:latin typeface="Segoe UI"/>
              </a:rPr>
              <a:t>5 — Benign</a:t>
            </a:r>
          </a:p>
        </p:txBody>
      </p:sp>
      <p:sp>
        <p:nvSpPr>
          <p:cNvPr id="91" name="Rectangle 90"/>
          <p:cNvSpPr/>
          <p:nvPr/>
        </p:nvSpPr>
        <p:spPr>
          <a:xfrm>
            <a:off x="2852928" y="5870448"/>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880360" y="5943600"/>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93" name="Rectangle 92"/>
          <p:cNvSpPr/>
          <p:nvPr/>
        </p:nvSpPr>
        <p:spPr>
          <a:xfrm>
            <a:off x="3511296" y="5870448"/>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538728" y="5943600"/>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95" name="Rectangle 94"/>
          <p:cNvSpPr/>
          <p:nvPr/>
        </p:nvSpPr>
        <p:spPr>
          <a:xfrm>
            <a:off x="4169664" y="5870448"/>
            <a:ext cx="64008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197096" y="5943600"/>
            <a:ext cx="640080" cy="310896"/>
          </a:xfrm>
          <a:prstGeom prst="rect">
            <a:avLst/>
          </a:prstGeom>
          <a:noFill/>
        </p:spPr>
        <p:txBody>
          <a:bodyPr wrap="square">
            <a:spAutoFit/>
          </a:bodyPr>
          <a:lstStyle/>
          <a:p>
            <a:pPr algn="l"/>
            <a:r>
              <a:rPr sz="1200" b="0">
                <a:solidFill>
                  <a:srgbClr val="F8FAFC"/>
                </a:solidFill>
                <a:latin typeface="Segoe UI"/>
              </a:rPr>
              <a:t>0</a:t>
            </a:r>
          </a:p>
        </p:txBody>
      </p:sp>
      <p:sp>
        <p:nvSpPr>
          <p:cNvPr id="97" name="Rectangle 96"/>
          <p:cNvSpPr/>
          <p:nvPr/>
        </p:nvSpPr>
        <p:spPr>
          <a:xfrm>
            <a:off x="4828032" y="5870448"/>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855464" y="5943600"/>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99" name="Rectangle 98"/>
          <p:cNvSpPr/>
          <p:nvPr/>
        </p:nvSpPr>
        <p:spPr>
          <a:xfrm>
            <a:off x="5852160" y="5870448"/>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879592" y="5943600"/>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101" name="Rectangle 100"/>
          <p:cNvSpPr/>
          <p:nvPr/>
        </p:nvSpPr>
        <p:spPr>
          <a:xfrm>
            <a:off x="6876288" y="5870448"/>
            <a:ext cx="1005840"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903720" y="5943600"/>
            <a:ext cx="1005840" cy="310896"/>
          </a:xfrm>
          <a:prstGeom prst="rect">
            <a:avLst/>
          </a:prstGeom>
          <a:noFill/>
        </p:spPr>
        <p:txBody>
          <a:bodyPr wrap="square">
            <a:spAutoFit/>
          </a:bodyPr>
          <a:lstStyle/>
          <a:p>
            <a:pPr algn="l"/>
            <a:r>
              <a:rPr sz="1200" b="0">
                <a:solidFill>
                  <a:srgbClr val="10B981"/>
                </a:solidFill>
                <a:latin typeface="Segoe UI"/>
              </a:rPr>
              <a:t>1.0000</a:t>
            </a:r>
          </a:p>
        </p:txBody>
      </p:sp>
      <p:sp>
        <p:nvSpPr>
          <p:cNvPr id="103" name="Rectangle 102"/>
          <p:cNvSpPr/>
          <p:nvPr/>
        </p:nvSpPr>
        <p:spPr>
          <a:xfrm>
            <a:off x="7863840" y="3547872"/>
            <a:ext cx="4114800" cy="301752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955279" y="3639312"/>
            <a:ext cx="3931920" cy="347472"/>
          </a:xfrm>
          <a:prstGeom prst="rect">
            <a:avLst/>
          </a:prstGeom>
          <a:noFill/>
        </p:spPr>
        <p:txBody>
          <a:bodyPr wrap="square">
            <a:spAutoFit/>
          </a:bodyPr>
          <a:lstStyle/>
          <a:p>
            <a:pPr algn="l"/>
            <a:r>
              <a:rPr sz="1300" b="1">
                <a:solidFill>
                  <a:srgbClr val="F59E0B"/>
                </a:solidFill>
                <a:latin typeface="Segoe UI"/>
              </a:rPr>
              <a:t>Honest Interpretation</a:t>
            </a:r>
          </a:p>
        </p:txBody>
      </p:sp>
      <p:sp>
        <p:nvSpPr>
          <p:cNvPr id="105" name="TextBox 104"/>
          <p:cNvSpPr txBox="1"/>
          <p:nvPr/>
        </p:nvSpPr>
        <p:spPr>
          <a:xfrm>
            <a:off x="7955279" y="4023360"/>
            <a:ext cx="3931920" cy="2468880"/>
          </a:xfrm>
          <a:prstGeom prst="rect">
            <a:avLst/>
          </a:prstGeom>
          <a:noFill/>
        </p:spPr>
        <p:txBody>
          <a:bodyPr wrap="square">
            <a:spAutoFit/>
          </a:bodyPr>
          <a:lstStyle/>
          <a:p>
            <a:pPr algn="l"/>
            <a:r>
              <a:rPr sz="1200" b="0">
                <a:solidFill>
                  <a:srgbClr val="F8FAFC"/>
                </a:solidFill>
                <a:latin typeface="Segoe UI"/>
              </a:rPr>
              <a:t>Scores are 1.0 because the synthetic
data was designed to match the
thresholds exactly.
This is expected — not a claim of
real-world accuracy.
On real traffic, thresholds would
need tuning.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Unit Testing</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10 tests, 10 passed — pytest 9.1.1, Python 3.12.10</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0" y="1371600"/>
            <a:ext cx="2743200"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0" y="1463040"/>
            <a:ext cx="2743200" cy="457200"/>
          </a:xfrm>
          <a:prstGeom prst="rect">
            <a:avLst/>
          </a:prstGeom>
          <a:noFill/>
        </p:spPr>
        <p:txBody>
          <a:bodyPr wrap="square">
            <a:spAutoFit/>
          </a:bodyPr>
          <a:lstStyle/>
          <a:p>
            <a:pPr algn="ctr"/>
            <a:r>
              <a:rPr sz="3600" b="1">
                <a:solidFill>
                  <a:srgbClr val="F8FAFC"/>
                </a:solidFill>
                <a:latin typeface="Segoe UI"/>
              </a:rPr>
              <a:t>10 / 10</a:t>
            </a:r>
          </a:p>
        </p:txBody>
      </p:sp>
      <p:sp>
        <p:nvSpPr>
          <p:cNvPr id="9" name="TextBox 8"/>
          <p:cNvSpPr txBox="1"/>
          <p:nvPr/>
        </p:nvSpPr>
        <p:spPr>
          <a:xfrm>
            <a:off x="9144000" y="2011680"/>
            <a:ext cx="2743200" cy="457200"/>
          </a:xfrm>
          <a:prstGeom prst="rect">
            <a:avLst/>
          </a:prstGeom>
          <a:noFill/>
        </p:spPr>
        <p:txBody>
          <a:bodyPr wrap="square">
            <a:spAutoFit/>
          </a:bodyPr>
          <a:lstStyle/>
          <a:p>
            <a:pPr algn="ctr"/>
            <a:r>
              <a:rPr sz="2000" b="1">
                <a:solidFill>
                  <a:srgbClr val="F8FAFC"/>
                </a:solidFill>
                <a:latin typeface="Segoe UI"/>
              </a:rPr>
              <a:t>PASSED</a:t>
            </a:r>
          </a:p>
        </p:txBody>
      </p:sp>
      <p:sp>
        <p:nvSpPr>
          <p:cNvPr id="10" name="Rectangle 9"/>
          <p:cNvSpPr/>
          <p:nvPr/>
        </p:nvSpPr>
        <p:spPr>
          <a:xfrm>
            <a:off x="320040" y="1463040"/>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 y="1472184"/>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12" name="TextBox 11"/>
          <p:cNvSpPr txBox="1"/>
          <p:nvPr/>
        </p:nvSpPr>
        <p:spPr>
          <a:xfrm>
            <a:off x="777240" y="1490472"/>
            <a:ext cx="8229600" cy="201168"/>
          </a:xfrm>
          <a:prstGeom prst="rect">
            <a:avLst/>
          </a:prstGeom>
          <a:noFill/>
        </p:spPr>
        <p:txBody>
          <a:bodyPr wrap="square">
            <a:spAutoFit/>
          </a:bodyPr>
          <a:lstStyle/>
          <a:p>
            <a:pPr algn="l"/>
            <a:r>
              <a:rPr sz="1100" b="1">
                <a:solidFill>
                  <a:srgbClr val="F8FAFC"/>
                </a:solidFill>
                <a:latin typeface="Segoe UI"/>
              </a:rPr>
              <a:t>test_port_scan_threshold_boundary</a:t>
            </a:r>
          </a:p>
        </p:txBody>
      </p:sp>
      <p:sp>
        <p:nvSpPr>
          <p:cNvPr id="13" name="TextBox 12"/>
          <p:cNvSpPr txBox="1"/>
          <p:nvPr/>
        </p:nvSpPr>
        <p:spPr>
          <a:xfrm>
            <a:off x="777240" y="1691640"/>
            <a:ext cx="8229600" cy="182880"/>
          </a:xfrm>
          <a:prstGeom prst="rect">
            <a:avLst/>
          </a:prstGeom>
          <a:noFill/>
        </p:spPr>
        <p:txBody>
          <a:bodyPr wrap="square">
            <a:spAutoFit/>
          </a:bodyPr>
          <a:lstStyle/>
          <a:p>
            <a:pPr algn="l"/>
            <a:r>
              <a:rPr sz="1000" b="0">
                <a:solidFill>
                  <a:srgbClr val="94A3B8"/>
                </a:solidFill>
                <a:latin typeface="Segoe UI"/>
              </a:rPr>
              <a:t>9 ports = no alert; 10 ports = alert</a:t>
            </a:r>
          </a:p>
        </p:txBody>
      </p:sp>
      <p:sp>
        <p:nvSpPr>
          <p:cNvPr id="14" name="Rectangle 13"/>
          <p:cNvSpPr/>
          <p:nvPr/>
        </p:nvSpPr>
        <p:spPr>
          <a:xfrm>
            <a:off x="320040" y="1947672"/>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 y="1956816"/>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16" name="TextBox 15"/>
          <p:cNvSpPr txBox="1"/>
          <p:nvPr/>
        </p:nvSpPr>
        <p:spPr>
          <a:xfrm>
            <a:off x="777240" y="1975104"/>
            <a:ext cx="8229600" cy="201168"/>
          </a:xfrm>
          <a:prstGeom prst="rect">
            <a:avLst/>
          </a:prstGeom>
          <a:noFill/>
        </p:spPr>
        <p:txBody>
          <a:bodyPr wrap="square">
            <a:spAutoFit/>
          </a:bodyPr>
          <a:lstStyle/>
          <a:p>
            <a:pPr algn="l"/>
            <a:r>
              <a:rPr sz="1100" b="1">
                <a:solidFill>
                  <a:srgbClr val="F8FAFC"/>
                </a:solidFill>
                <a:latin typeface="Segoe UI"/>
              </a:rPr>
              <a:t>test_host_scan_threshold_boundary</a:t>
            </a:r>
          </a:p>
        </p:txBody>
      </p:sp>
      <p:sp>
        <p:nvSpPr>
          <p:cNvPr id="17" name="TextBox 16"/>
          <p:cNvSpPr txBox="1"/>
          <p:nvPr/>
        </p:nvSpPr>
        <p:spPr>
          <a:xfrm>
            <a:off x="777240" y="2176272"/>
            <a:ext cx="8229600" cy="182880"/>
          </a:xfrm>
          <a:prstGeom prst="rect">
            <a:avLst/>
          </a:prstGeom>
          <a:noFill/>
        </p:spPr>
        <p:txBody>
          <a:bodyPr wrap="square">
            <a:spAutoFit/>
          </a:bodyPr>
          <a:lstStyle/>
          <a:p>
            <a:pPr algn="l"/>
            <a:r>
              <a:rPr sz="1000" b="0">
                <a:solidFill>
                  <a:srgbClr val="94A3B8"/>
                </a:solidFill>
                <a:latin typeface="Segoe UI"/>
              </a:rPr>
              <a:t>4 hosts = no alert; 5 hosts = alert</a:t>
            </a:r>
          </a:p>
        </p:txBody>
      </p:sp>
      <p:sp>
        <p:nvSpPr>
          <p:cNvPr id="18" name="Rectangle 17"/>
          <p:cNvSpPr/>
          <p:nvPr/>
        </p:nvSpPr>
        <p:spPr>
          <a:xfrm>
            <a:off x="320040" y="2432304"/>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 y="2441448"/>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20" name="TextBox 19"/>
          <p:cNvSpPr txBox="1"/>
          <p:nvPr/>
        </p:nvSpPr>
        <p:spPr>
          <a:xfrm>
            <a:off x="777240" y="2459736"/>
            <a:ext cx="8229600" cy="201168"/>
          </a:xfrm>
          <a:prstGeom prst="rect">
            <a:avLst/>
          </a:prstGeom>
          <a:noFill/>
        </p:spPr>
        <p:txBody>
          <a:bodyPr wrap="square">
            <a:spAutoFit/>
          </a:bodyPr>
          <a:lstStyle/>
          <a:p>
            <a:pPr algn="l"/>
            <a:r>
              <a:rPr sz="1100" b="1">
                <a:solidFill>
                  <a:srgbClr val="F8FAFC"/>
                </a:solidFill>
                <a:latin typeface="Segoe UI"/>
              </a:rPr>
              <a:t>test_exfiltration_threshold_boundary</a:t>
            </a:r>
          </a:p>
        </p:txBody>
      </p:sp>
      <p:sp>
        <p:nvSpPr>
          <p:cNvPr id="21" name="TextBox 20"/>
          <p:cNvSpPr txBox="1"/>
          <p:nvPr/>
        </p:nvSpPr>
        <p:spPr>
          <a:xfrm>
            <a:off x="777240" y="2660904"/>
            <a:ext cx="8229600" cy="182880"/>
          </a:xfrm>
          <a:prstGeom prst="rect">
            <a:avLst/>
          </a:prstGeom>
          <a:noFill/>
        </p:spPr>
        <p:txBody>
          <a:bodyPr wrap="square">
            <a:spAutoFit/>
          </a:bodyPr>
          <a:lstStyle/>
          <a:p>
            <a:pPr algn="l"/>
            <a:r>
              <a:rPr sz="1000" b="0">
                <a:solidFill>
                  <a:srgbClr val="94A3B8"/>
                </a:solidFill>
                <a:latin typeface="Segoe UI"/>
              </a:rPr>
              <a:t>499,999 B = no alert; 500,000 B = alert</a:t>
            </a:r>
          </a:p>
        </p:txBody>
      </p:sp>
      <p:sp>
        <p:nvSpPr>
          <p:cNvPr id="22" name="Rectangle 21"/>
          <p:cNvSpPr/>
          <p:nvPr/>
        </p:nvSpPr>
        <p:spPr>
          <a:xfrm>
            <a:off x="320040" y="2916936"/>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 y="2926080"/>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24" name="TextBox 23"/>
          <p:cNvSpPr txBox="1"/>
          <p:nvPr/>
        </p:nvSpPr>
        <p:spPr>
          <a:xfrm>
            <a:off x="777240" y="2944368"/>
            <a:ext cx="8229600" cy="201168"/>
          </a:xfrm>
          <a:prstGeom prst="rect">
            <a:avLst/>
          </a:prstGeom>
          <a:noFill/>
        </p:spPr>
        <p:txBody>
          <a:bodyPr wrap="square">
            <a:spAutoFit/>
          </a:bodyPr>
          <a:lstStyle/>
          <a:p>
            <a:pPr algn="l"/>
            <a:r>
              <a:rPr sz="1100" b="1">
                <a:solidFill>
                  <a:srgbClr val="F8FAFC"/>
                </a:solidFill>
                <a:latin typeface="Segoe UI"/>
              </a:rPr>
              <a:t>test_benign_scenario_zero_alerts</a:t>
            </a:r>
          </a:p>
        </p:txBody>
      </p:sp>
      <p:sp>
        <p:nvSpPr>
          <p:cNvPr id="25" name="TextBox 24"/>
          <p:cNvSpPr txBox="1"/>
          <p:nvPr/>
        </p:nvSpPr>
        <p:spPr>
          <a:xfrm>
            <a:off x="777240" y="3145536"/>
            <a:ext cx="8229600" cy="182880"/>
          </a:xfrm>
          <a:prstGeom prst="rect">
            <a:avLst/>
          </a:prstGeom>
          <a:noFill/>
        </p:spPr>
        <p:txBody>
          <a:bodyPr wrap="square">
            <a:spAutoFit/>
          </a:bodyPr>
          <a:lstStyle/>
          <a:p>
            <a:pPr algn="l"/>
            <a:r>
              <a:rPr sz="1000" b="0">
                <a:solidFill>
                  <a:srgbClr val="94A3B8"/>
                </a:solidFill>
                <a:latin typeface="Segoe UI"/>
              </a:rPr>
              <a:t>Scenario 5 produces exactly 0 alerts</a:t>
            </a:r>
          </a:p>
        </p:txBody>
      </p:sp>
      <p:sp>
        <p:nvSpPr>
          <p:cNvPr id="26" name="Rectangle 25"/>
          <p:cNvSpPr/>
          <p:nvPr/>
        </p:nvSpPr>
        <p:spPr>
          <a:xfrm>
            <a:off x="320040" y="3401568"/>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 y="3410712"/>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28" name="TextBox 27"/>
          <p:cNvSpPr txBox="1"/>
          <p:nvPr/>
        </p:nvSpPr>
        <p:spPr>
          <a:xfrm>
            <a:off x="777240" y="3429000"/>
            <a:ext cx="8229600" cy="201168"/>
          </a:xfrm>
          <a:prstGeom prst="rect">
            <a:avLst/>
          </a:prstGeom>
          <a:noFill/>
        </p:spPr>
        <p:txBody>
          <a:bodyPr wrap="square">
            <a:spAutoFit/>
          </a:bodyPr>
          <a:lstStyle/>
          <a:p>
            <a:pPr algn="l"/>
            <a:r>
              <a:rPr sz="1100" b="1">
                <a:solidFill>
                  <a:srgbClr val="F8FAFC"/>
                </a:solidFill>
                <a:latin typeface="Segoe UI"/>
              </a:rPr>
              <a:t>test_incident_correlation_time_gap</a:t>
            </a:r>
          </a:p>
        </p:txBody>
      </p:sp>
      <p:sp>
        <p:nvSpPr>
          <p:cNvPr id="29" name="TextBox 28"/>
          <p:cNvSpPr txBox="1"/>
          <p:nvPr/>
        </p:nvSpPr>
        <p:spPr>
          <a:xfrm>
            <a:off x="777240" y="3630168"/>
            <a:ext cx="8229600" cy="182880"/>
          </a:xfrm>
          <a:prstGeom prst="rect">
            <a:avLst/>
          </a:prstGeom>
          <a:noFill/>
        </p:spPr>
        <p:txBody>
          <a:bodyPr wrap="square">
            <a:spAutoFit/>
          </a:bodyPr>
          <a:lstStyle/>
          <a:p>
            <a:pPr algn="l"/>
            <a:r>
              <a:rPr sz="1000" b="0">
                <a:solidFill>
                  <a:srgbClr val="94A3B8"/>
                </a:solidFill>
                <a:latin typeface="Segoe UI"/>
              </a:rPr>
              <a:t>3-min gap = 1 incident; 13-min gap = 2</a:t>
            </a:r>
          </a:p>
        </p:txBody>
      </p:sp>
      <p:sp>
        <p:nvSpPr>
          <p:cNvPr id="30" name="Rectangle 29"/>
          <p:cNvSpPr/>
          <p:nvPr/>
        </p:nvSpPr>
        <p:spPr>
          <a:xfrm>
            <a:off x="320040" y="3886200"/>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4" y="3895344"/>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32" name="TextBox 31"/>
          <p:cNvSpPr txBox="1"/>
          <p:nvPr/>
        </p:nvSpPr>
        <p:spPr>
          <a:xfrm>
            <a:off x="777240" y="3913632"/>
            <a:ext cx="8229600" cy="201168"/>
          </a:xfrm>
          <a:prstGeom prst="rect">
            <a:avLst/>
          </a:prstGeom>
          <a:noFill/>
        </p:spPr>
        <p:txBody>
          <a:bodyPr wrap="square">
            <a:spAutoFit/>
          </a:bodyPr>
          <a:lstStyle/>
          <a:p>
            <a:pPr algn="l"/>
            <a:r>
              <a:rPr sz="1100" b="1">
                <a:solidFill>
                  <a:srgbClr val="F8FAFC"/>
                </a:solidFill>
                <a:latin typeface="Segoe UI"/>
              </a:rPr>
              <a:t>test_scoring_hand_calculation</a:t>
            </a:r>
          </a:p>
        </p:txBody>
      </p:sp>
      <p:sp>
        <p:nvSpPr>
          <p:cNvPr id="33" name="TextBox 32"/>
          <p:cNvSpPr txBox="1"/>
          <p:nvPr/>
        </p:nvSpPr>
        <p:spPr>
          <a:xfrm>
            <a:off x="777240" y="4114800"/>
            <a:ext cx="8229600" cy="182880"/>
          </a:xfrm>
          <a:prstGeom prst="rect">
            <a:avLst/>
          </a:prstGeom>
          <a:noFill/>
        </p:spPr>
        <p:txBody>
          <a:bodyPr wrap="square">
            <a:spAutoFit/>
          </a:bodyPr>
          <a:lstStyle/>
          <a:p>
            <a:pPr algn="l"/>
            <a:r>
              <a:rPr sz="1000" b="0">
                <a:solidFill>
                  <a:srgbClr val="94A3B8"/>
                </a:solidFill>
                <a:latin typeface="Segoe UI"/>
              </a:rPr>
              <a:t>HIGH+600KB = score 70, level=High</a:t>
            </a:r>
          </a:p>
        </p:txBody>
      </p:sp>
      <p:sp>
        <p:nvSpPr>
          <p:cNvPr id="34" name="Rectangle 33"/>
          <p:cNvSpPr/>
          <p:nvPr/>
        </p:nvSpPr>
        <p:spPr>
          <a:xfrm>
            <a:off x="320040" y="4370832"/>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 y="4379976"/>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36" name="TextBox 35"/>
          <p:cNvSpPr txBox="1"/>
          <p:nvPr/>
        </p:nvSpPr>
        <p:spPr>
          <a:xfrm>
            <a:off x="777240" y="4398264"/>
            <a:ext cx="8229600" cy="201168"/>
          </a:xfrm>
          <a:prstGeom prst="rect">
            <a:avLst/>
          </a:prstGeom>
          <a:noFill/>
        </p:spPr>
        <p:txBody>
          <a:bodyPr wrap="square">
            <a:spAutoFit/>
          </a:bodyPr>
          <a:lstStyle/>
          <a:p>
            <a:pPr algn="l"/>
            <a:r>
              <a:rPr sz="1100" b="1">
                <a:solidFill>
                  <a:srgbClr val="F8FAFC"/>
                </a:solidFill>
                <a:latin typeface="Segoe UI"/>
              </a:rPr>
              <a:t>test_scoring_never_exceeds_100</a:t>
            </a:r>
          </a:p>
        </p:txBody>
      </p:sp>
      <p:sp>
        <p:nvSpPr>
          <p:cNvPr id="37" name="TextBox 36"/>
          <p:cNvSpPr txBox="1"/>
          <p:nvPr/>
        </p:nvSpPr>
        <p:spPr>
          <a:xfrm>
            <a:off x="777240" y="4599432"/>
            <a:ext cx="8229600" cy="182880"/>
          </a:xfrm>
          <a:prstGeom prst="rect">
            <a:avLst/>
          </a:prstGeom>
          <a:noFill/>
        </p:spPr>
        <p:txBody>
          <a:bodyPr wrap="square">
            <a:spAutoFit/>
          </a:bodyPr>
          <a:lstStyle/>
          <a:p>
            <a:pPr algn="l"/>
            <a:r>
              <a:rPr sz="1000" b="0">
                <a:solidFill>
                  <a:srgbClr val="94A3B8"/>
                </a:solidFill>
                <a:latin typeface="Segoe UI"/>
              </a:rPr>
              <a:t>Many HIGH alerts capped at 100</a:t>
            </a:r>
          </a:p>
        </p:txBody>
      </p:sp>
      <p:sp>
        <p:nvSpPr>
          <p:cNvPr id="38" name="Rectangle 37"/>
          <p:cNvSpPr/>
          <p:nvPr/>
        </p:nvSpPr>
        <p:spPr>
          <a:xfrm>
            <a:off x="320040" y="4855464"/>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9184" y="4864608"/>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40" name="TextBox 39"/>
          <p:cNvSpPr txBox="1"/>
          <p:nvPr/>
        </p:nvSpPr>
        <p:spPr>
          <a:xfrm>
            <a:off x="777240" y="4882896"/>
            <a:ext cx="8229600" cy="201168"/>
          </a:xfrm>
          <a:prstGeom prst="rect">
            <a:avLst/>
          </a:prstGeom>
          <a:noFill/>
        </p:spPr>
        <p:txBody>
          <a:bodyPr wrap="square">
            <a:spAutoFit/>
          </a:bodyPr>
          <a:lstStyle/>
          <a:p>
            <a:pPr algn="l"/>
            <a:r>
              <a:rPr sz="1100" b="1">
                <a:solidFill>
                  <a:srgbClr val="F8FAFC"/>
                </a:solidFill>
                <a:latin typeface="Segoe UI"/>
              </a:rPr>
              <a:t>test_loader_drops_invalid_rows</a:t>
            </a:r>
          </a:p>
        </p:txBody>
      </p:sp>
      <p:sp>
        <p:nvSpPr>
          <p:cNvPr id="41" name="TextBox 40"/>
          <p:cNvSpPr txBox="1"/>
          <p:nvPr/>
        </p:nvSpPr>
        <p:spPr>
          <a:xfrm>
            <a:off x="777240" y="5084064"/>
            <a:ext cx="8229600" cy="182880"/>
          </a:xfrm>
          <a:prstGeom prst="rect">
            <a:avLst/>
          </a:prstGeom>
          <a:noFill/>
        </p:spPr>
        <p:txBody>
          <a:bodyPr wrap="square">
            <a:spAutoFit/>
          </a:bodyPr>
          <a:lstStyle/>
          <a:p>
            <a:pPr algn="l"/>
            <a:r>
              <a:rPr sz="1000" b="0">
                <a:solidFill>
                  <a:srgbClr val="94A3B8"/>
                </a:solidFill>
                <a:latin typeface="Segoe UI"/>
              </a:rPr>
              <a:t>3 bad rows dropped, 1 good row kept</a:t>
            </a:r>
          </a:p>
        </p:txBody>
      </p:sp>
      <p:sp>
        <p:nvSpPr>
          <p:cNvPr id="42" name="Rectangle 41"/>
          <p:cNvSpPr/>
          <p:nvPr/>
        </p:nvSpPr>
        <p:spPr>
          <a:xfrm>
            <a:off x="320040" y="5340096"/>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9184" y="5349240"/>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44" name="TextBox 43"/>
          <p:cNvSpPr txBox="1"/>
          <p:nvPr/>
        </p:nvSpPr>
        <p:spPr>
          <a:xfrm>
            <a:off x="777240" y="5367528"/>
            <a:ext cx="8229600" cy="201168"/>
          </a:xfrm>
          <a:prstGeom prst="rect">
            <a:avLst/>
          </a:prstGeom>
          <a:noFill/>
        </p:spPr>
        <p:txBody>
          <a:bodyPr wrap="square">
            <a:spAutoFit/>
          </a:bodyPr>
          <a:lstStyle/>
          <a:p>
            <a:pPr algn="l"/>
            <a:r>
              <a:rPr sz="1100" b="1">
                <a:solidFill>
                  <a:srgbClr val="F8FAFC"/>
                </a:solidFill>
                <a:latin typeface="Segoe UI"/>
              </a:rPr>
              <a:t>test_zero_label_leakage</a:t>
            </a:r>
          </a:p>
        </p:txBody>
      </p:sp>
      <p:sp>
        <p:nvSpPr>
          <p:cNvPr id="45" name="TextBox 44"/>
          <p:cNvSpPr txBox="1"/>
          <p:nvPr/>
        </p:nvSpPr>
        <p:spPr>
          <a:xfrm>
            <a:off x="777240" y="5568696"/>
            <a:ext cx="8229600" cy="182880"/>
          </a:xfrm>
          <a:prstGeom prst="rect">
            <a:avLst/>
          </a:prstGeom>
          <a:noFill/>
        </p:spPr>
        <p:txBody>
          <a:bodyPr wrap="square">
            <a:spAutoFit/>
          </a:bodyPr>
          <a:lstStyle/>
          <a:p>
            <a:pPr algn="l"/>
            <a:r>
              <a:rPr sz="1000" b="0">
                <a:solidFill>
                  <a:srgbClr val="94A3B8"/>
                </a:solidFill>
                <a:latin typeface="Segoe UI"/>
              </a:rPr>
              <a:t>Alerts identical with/without label column</a:t>
            </a:r>
          </a:p>
        </p:txBody>
      </p:sp>
      <p:sp>
        <p:nvSpPr>
          <p:cNvPr id="46" name="Rectangle 45"/>
          <p:cNvSpPr/>
          <p:nvPr/>
        </p:nvSpPr>
        <p:spPr>
          <a:xfrm>
            <a:off x="320040" y="5824728"/>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33872"/>
            <a:ext cx="365760" cy="347472"/>
          </a:xfrm>
          <a:prstGeom prst="rect">
            <a:avLst/>
          </a:prstGeom>
          <a:noFill/>
        </p:spPr>
        <p:txBody>
          <a:bodyPr wrap="square">
            <a:spAutoFit/>
          </a:bodyPr>
          <a:lstStyle/>
          <a:p>
            <a:pPr algn="ctr"/>
            <a:r>
              <a:rPr sz="1800" b="1">
                <a:solidFill>
                  <a:srgbClr val="F8FAFC"/>
                </a:solidFill>
                <a:latin typeface="Segoe UI"/>
              </a:rPr>
              <a:t>v</a:t>
            </a:r>
          </a:p>
        </p:txBody>
      </p:sp>
      <p:sp>
        <p:nvSpPr>
          <p:cNvPr id="48" name="TextBox 47"/>
          <p:cNvSpPr txBox="1"/>
          <p:nvPr/>
        </p:nvSpPr>
        <p:spPr>
          <a:xfrm>
            <a:off x="777240" y="5852160"/>
            <a:ext cx="8229600" cy="201168"/>
          </a:xfrm>
          <a:prstGeom prst="rect">
            <a:avLst/>
          </a:prstGeom>
          <a:noFill/>
        </p:spPr>
        <p:txBody>
          <a:bodyPr wrap="square">
            <a:spAutoFit/>
          </a:bodyPr>
          <a:lstStyle/>
          <a:p>
            <a:pPr algn="l"/>
            <a:r>
              <a:rPr sz="1100" b="1">
                <a:solidFill>
                  <a:srgbClr val="F8FAFC"/>
                </a:solidFill>
                <a:latin typeface="Segoe UI"/>
              </a:rPr>
              <a:t>test_mitre_mapping_and_dossier</a:t>
            </a:r>
          </a:p>
        </p:txBody>
      </p:sp>
      <p:sp>
        <p:nvSpPr>
          <p:cNvPr id="49" name="TextBox 48"/>
          <p:cNvSpPr txBox="1"/>
          <p:nvPr/>
        </p:nvSpPr>
        <p:spPr>
          <a:xfrm>
            <a:off x="777240" y="6053328"/>
            <a:ext cx="8229600" cy="182880"/>
          </a:xfrm>
          <a:prstGeom prst="rect">
            <a:avLst/>
          </a:prstGeom>
          <a:noFill/>
        </p:spPr>
        <p:txBody>
          <a:bodyPr wrap="square">
            <a:spAutoFit/>
          </a:bodyPr>
          <a:lstStyle/>
          <a:p>
            <a:pPr algn="l"/>
            <a:r>
              <a:rPr sz="1000" b="0">
                <a:solidFill>
                  <a:srgbClr val="94A3B8"/>
                </a:solidFill>
                <a:latin typeface="Segoe UI"/>
              </a:rPr>
              <a:t>MITRE fields and dossier text 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Streamlit Dashboard — Five Tabs</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Interactive web interface — no login required, runs locally</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2240280" cy="91440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463040"/>
            <a:ext cx="2103120" cy="777240"/>
          </a:xfrm>
          <a:prstGeom prst="rect">
            <a:avLst/>
          </a:prstGeom>
          <a:noFill/>
        </p:spPr>
        <p:txBody>
          <a:bodyPr wrap="square">
            <a:spAutoFit/>
          </a:bodyPr>
          <a:lstStyle/>
          <a:p>
            <a:pPr algn="ctr"/>
            <a:r>
              <a:rPr sz="1200" b="1">
                <a:solidFill>
                  <a:srgbClr val="0B0F19"/>
                </a:solidFill>
                <a:latin typeface="Segoe UI"/>
              </a:rPr>
              <a:t>Tab 1
Threat Incidents</a:t>
            </a:r>
          </a:p>
        </p:txBody>
      </p:sp>
      <p:sp>
        <p:nvSpPr>
          <p:cNvPr id="9" name="Rectangle 8"/>
          <p:cNvSpPr/>
          <p:nvPr/>
        </p:nvSpPr>
        <p:spPr>
          <a:xfrm>
            <a:off x="2633472" y="1417320"/>
            <a:ext cx="2240280" cy="9144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06624" y="1463040"/>
            <a:ext cx="2103120" cy="777240"/>
          </a:xfrm>
          <a:prstGeom prst="rect">
            <a:avLst/>
          </a:prstGeom>
          <a:noFill/>
        </p:spPr>
        <p:txBody>
          <a:bodyPr wrap="square">
            <a:spAutoFit/>
          </a:bodyPr>
          <a:lstStyle/>
          <a:p>
            <a:pPr algn="ctr"/>
            <a:r>
              <a:rPr sz="1200" b="1">
                <a:solidFill>
                  <a:srgbClr val="F8FAFC"/>
                </a:solidFill>
                <a:latin typeface="Segoe UI"/>
              </a:rPr>
              <a:t>Tab 2
Attack Timeline</a:t>
            </a:r>
          </a:p>
        </p:txBody>
      </p:sp>
      <p:sp>
        <p:nvSpPr>
          <p:cNvPr id="11" name="Rectangle 10"/>
          <p:cNvSpPr/>
          <p:nvPr/>
        </p:nvSpPr>
        <p:spPr>
          <a:xfrm>
            <a:off x="4992624" y="1417320"/>
            <a:ext cx="2240280" cy="9144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65776" y="1463040"/>
            <a:ext cx="2103120" cy="777240"/>
          </a:xfrm>
          <a:prstGeom prst="rect">
            <a:avLst/>
          </a:prstGeom>
          <a:noFill/>
        </p:spPr>
        <p:txBody>
          <a:bodyPr wrap="square">
            <a:spAutoFit/>
          </a:bodyPr>
          <a:lstStyle/>
          <a:p>
            <a:pPr algn="ctr"/>
            <a:r>
              <a:rPr sz="1200" b="1">
                <a:solidFill>
                  <a:srgbClr val="F8FAFC"/>
                </a:solidFill>
                <a:latin typeface="Segoe UI"/>
              </a:rPr>
              <a:t>Tab 3
Network Topology</a:t>
            </a:r>
          </a:p>
        </p:txBody>
      </p:sp>
      <p:sp>
        <p:nvSpPr>
          <p:cNvPr id="13" name="Rectangle 12"/>
          <p:cNvSpPr/>
          <p:nvPr/>
        </p:nvSpPr>
        <p:spPr>
          <a:xfrm>
            <a:off x="7351776" y="1417320"/>
            <a:ext cx="2240280" cy="9144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4928" y="1463040"/>
            <a:ext cx="2103120" cy="777240"/>
          </a:xfrm>
          <a:prstGeom prst="rect">
            <a:avLst/>
          </a:prstGeom>
          <a:noFill/>
        </p:spPr>
        <p:txBody>
          <a:bodyPr wrap="square">
            <a:spAutoFit/>
          </a:bodyPr>
          <a:lstStyle/>
          <a:p>
            <a:pPr algn="ctr"/>
            <a:r>
              <a:rPr sz="1200" b="1">
                <a:solidFill>
                  <a:srgbClr val="F8FAFC"/>
                </a:solidFill>
                <a:latin typeface="Segoe UI"/>
              </a:rPr>
              <a:t>Tab 4
Flow Telemetry</a:t>
            </a:r>
          </a:p>
        </p:txBody>
      </p:sp>
      <p:sp>
        <p:nvSpPr>
          <p:cNvPr id="15" name="Rectangle 14"/>
          <p:cNvSpPr/>
          <p:nvPr/>
        </p:nvSpPr>
        <p:spPr>
          <a:xfrm>
            <a:off x="9710928" y="1417320"/>
            <a:ext cx="2240280" cy="91440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0" y="1463040"/>
            <a:ext cx="2103120" cy="777240"/>
          </a:xfrm>
          <a:prstGeom prst="rect">
            <a:avLst/>
          </a:prstGeom>
          <a:noFill/>
        </p:spPr>
        <p:txBody>
          <a:bodyPr wrap="square">
            <a:spAutoFit/>
          </a:bodyPr>
          <a:lstStyle/>
          <a:p>
            <a:pPr algn="ctr"/>
            <a:r>
              <a:rPr sz="1200" b="1">
                <a:solidFill>
                  <a:srgbClr val="F8FAFC"/>
                </a:solidFill>
                <a:latin typeface="Segoe UI"/>
              </a:rPr>
              <a:t>Tab 5
Forensic Dossier</a:t>
            </a:r>
          </a:p>
        </p:txBody>
      </p:sp>
      <p:sp>
        <p:nvSpPr>
          <p:cNvPr id="17" name="Rectangle 16"/>
          <p:cNvSpPr/>
          <p:nvPr/>
        </p:nvSpPr>
        <p:spPr>
          <a:xfrm>
            <a:off x="274320" y="2423160"/>
            <a:ext cx="2240280" cy="411480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2514600"/>
            <a:ext cx="2103120" cy="3931920"/>
          </a:xfrm>
          <a:prstGeom prst="rect">
            <a:avLst/>
          </a:prstGeom>
          <a:noFill/>
        </p:spPr>
        <p:txBody>
          <a:bodyPr wrap="square">
            <a:spAutoFit/>
          </a:bodyPr>
          <a:lstStyle/>
          <a:p>
            <a:pPr algn="l"/>
            <a:r>
              <a:rPr sz="1100" b="0">
                <a:solidFill>
                  <a:srgbClr val="F8FAFC"/>
                </a:solidFill>
                <a:latin typeface="Segoe UI"/>
              </a:rPr>
              <a:t>One card per incident. Shows source IP, risk score badge, MITRE kill chain, score breakdown, affected hosts, and containment playbook.</a:t>
            </a:r>
          </a:p>
        </p:txBody>
      </p:sp>
      <p:sp>
        <p:nvSpPr>
          <p:cNvPr id="19" name="Rectangle 18"/>
          <p:cNvSpPr/>
          <p:nvPr/>
        </p:nvSpPr>
        <p:spPr>
          <a:xfrm>
            <a:off x="2633472" y="2423160"/>
            <a:ext cx="2240280" cy="411480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06624" y="2514600"/>
            <a:ext cx="2103120" cy="3931920"/>
          </a:xfrm>
          <a:prstGeom prst="rect">
            <a:avLst/>
          </a:prstGeom>
          <a:noFill/>
        </p:spPr>
        <p:txBody>
          <a:bodyPr wrap="square">
            <a:spAutoFit/>
          </a:bodyPr>
          <a:lstStyle/>
          <a:p>
            <a:pPr algn="l"/>
            <a:r>
              <a:rPr sz="1100" b="0">
                <a:solidFill>
                  <a:srgbClr val="F8FAFC"/>
                </a:solidFill>
                <a:latin typeface="Segoe UI"/>
              </a:rPr>
              <a:t>Scatter plot: time on X-axis, kill chain stage on Y-axis. Each dot is one alert. Colour = severity. Table below lists all alert details.</a:t>
            </a:r>
          </a:p>
        </p:txBody>
      </p:sp>
      <p:sp>
        <p:nvSpPr>
          <p:cNvPr id="21" name="Rectangle 20"/>
          <p:cNvSpPr/>
          <p:nvPr/>
        </p:nvSpPr>
        <p:spPr>
          <a:xfrm>
            <a:off x="4992624" y="2423160"/>
            <a:ext cx="2240280" cy="411480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65776" y="2514600"/>
            <a:ext cx="2103120" cy="3931920"/>
          </a:xfrm>
          <a:prstGeom prst="rect">
            <a:avLst/>
          </a:prstGeom>
          <a:noFill/>
        </p:spPr>
        <p:txBody>
          <a:bodyPr wrap="square">
            <a:spAutoFit/>
          </a:bodyPr>
          <a:lstStyle/>
          <a:p>
            <a:pPr algn="l"/>
            <a:r>
              <a:rPr sz="1100" b="0">
                <a:solidFill>
                  <a:srgbClr val="F8FAFC"/>
                </a:solidFill>
                <a:latin typeface="Segoe UI"/>
              </a:rPr>
              <a:t>Directed graph. Red = attacker, orange = victim, cyan = normal host. Top 8 communicating pairs shown by data volume.</a:t>
            </a:r>
          </a:p>
        </p:txBody>
      </p:sp>
      <p:sp>
        <p:nvSpPr>
          <p:cNvPr id="23" name="Rectangle 22"/>
          <p:cNvSpPr/>
          <p:nvPr/>
        </p:nvSpPr>
        <p:spPr>
          <a:xfrm>
            <a:off x="7351776" y="2423160"/>
            <a:ext cx="2240280" cy="411480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24928" y="2514600"/>
            <a:ext cx="2103120" cy="3931920"/>
          </a:xfrm>
          <a:prstGeom prst="rect">
            <a:avLst/>
          </a:prstGeom>
          <a:noFill/>
        </p:spPr>
        <p:txBody>
          <a:bodyPr wrap="square">
            <a:spAutoFit/>
          </a:bodyPr>
          <a:lstStyle/>
          <a:p>
            <a:pPr algn="l"/>
            <a:r>
              <a:rPr sz="1100" b="0">
                <a:solidFill>
                  <a:srgbClr val="F8FAFC"/>
                </a:solidFill>
                <a:latin typeface="Segoe UI"/>
              </a:rPr>
              <a:t>Protocol pie, firewall action pie, top ports bar chart. Filterable table to inspect individual flow records.</a:t>
            </a:r>
          </a:p>
        </p:txBody>
      </p:sp>
      <p:sp>
        <p:nvSpPr>
          <p:cNvPr id="25" name="Rectangle 24"/>
          <p:cNvSpPr/>
          <p:nvPr/>
        </p:nvSpPr>
        <p:spPr>
          <a:xfrm>
            <a:off x="9710928" y="2423160"/>
            <a:ext cx="2240280" cy="411480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0" y="2514600"/>
            <a:ext cx="2103120" cy="3931920"/>
          </a:xfrm>
          <a:prstGeom prst="rect">
            <a:avLst/>
          </a:prstGeom>
          <a:noFill/>
        </p:spPr>
        <p:txBody>
          <a:bodyPr wrap="square">
            <a:spAutoFit/>
          </a:bodyPr>
          <a:lstStyle/>
          <a:p>
            <a:pPr algn="l"/>
            <a:r>
              <a:rPr sz="1100" b="0">
                <a:solidFill>
                  <a:srgbClr val="F8FAFC"/>
                </a:solidFill>
                <a:latin typeface="Segoe UI"/>
              </a:rPr>
              <a:t>Auto-generated markdown report for the top incident. Downloadable as a .md file. Evaluation metrics table on the right.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Limitations and Honest Assessment</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What the tool cannot do</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5486400" cy="160020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36192"/>
            <a:ext cx="5303520" cy="347472"/>
          </a:xfrm>
          <a:prstGeom prst="rect">
            <a:avLst/>
          </a:prstGeom>
          <a:noFill/>
        </p:spPr>
        <p:txBody>
          <a:bodyPr wrap="square">
            <a:spAutoFit/>
          </a:bodyPr>
          <a:lstStyle/>
          <a:p>
            <a:pPr algn="l"/>
            <a:r>
              <a:rPr sz="1300" b="1">
                <a:solidFill>
                  <a:srgbClr val="F59E0B"/>
                </a:solidFill>
                <a:latin typeface="Segoe UI"/>
              </a:rPr>
              <a:t>1. Synthetic data only</a:t>
            </a:r>
          </a:p>
        </p:txBody>
      </p:sp>
      <p:sp>
        <p:nvSpPr>
          <p:cNvPr id="9" name="TextBox 8"/>
          <p:cNvSpPr txBox="1"/>
          <p:nvPr/>
        </p:nvSpPr>
        <p:spPr>
          <a:xfrm>
            <a:off x="457200" y="1920240"/>
            <a:ext cx="5303520" cy="1051560"/>
          </a:xfrm>
          <a:prstGeom prst="rect">
            <a:avLst/>
          </a:prstGeom>
          <a:noFill/>
        </p:spPr>
        <p:txBody>
          <a:bodyPr wrap="square">
            <a:spAutoFit/>
          </a:bodyPr>
          <a:lstStyle/>
          <a:p>
            <a:pPr algn="l"/>
            <a:r>
              <a:rPr sz="1200" b="0">
                <a:solidFill>
                  <a:srgbClr val="94A3B8"/>
                </a:solidFill>
                <a:latin typeface="Segoe UI"/>
              </a:rPr>
              <a:t>All testing was done on data generated by the same code that sets the thresholds. No real AWS VPC Flow Logs were used.</a:t>
            </a:r>
          </a:p>
        </p:txBody>
      </p:sp>
      <p:sp>
        <p:nvSpPr>
          <p:cNvPr id="10" name="Rectangle 9"/>
          <p:cNvSpPr/>
          <p:nvPr/>
        </p:nvSpPr>
        <p:spPr>
          <a:xfrm>
            <a:off x="365760" y="3154680"/>
            <a:ext cx="5486400" cy="160020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227832"/>
            <a:ext cx="5303520" cy="347472"/>
          </a:xfrm>
          <a:prstGeom prst="rect">
            <a:avLst/>
          </a:prstGeom>
          <a:noFill/>
        </p:spPr>
        <p:txBody>
          <a:bodyPr wrap="square">
            <a:spAutoFit/>
          </a:bodyPr>
          <a:lstStyle/>
          <a:p>
            <a:pPr algn="l"/>
            <a:r>
              <a:rPr sz="1300" b="1">
                <a:solidFill>
                  <a:srgbClr val="F59E0B"/>
                </a:solidFill>
                <a:latin typeface="Segoe UI"/>
              </a:rPr>
              <a:t>2. Fixed thresholds</a:t>
            </a:r>
          </a:p>
        </p:txBody>
      </p:sp>
      <p:sp>
        <p:nvSpPr>
          <p:cNvPr id="12" name="TextBox 11"/>
          <p:cNvSpPr txBox="1"/>
          <p:nvPr/>
        </p:nvSpPr>
        <p:spPr>
          <a:xfrm>
            <a:off x="457200" y="3611880"/>
            <a:ext cx="5303520" cy="1051560"/>
          </a:xfrm>
          <a:prstGeom prst="rect">
            <a:avLst/>
          </a:prstGeom>
          <a:noFill/>
        </p:spPr>
        <p:txBody>
          <a:bodyPr wrap="square">
            <a:spAutoFit/>
          </a:bodyPr>
          <a:lstStyle/>
          <a:p>
            <a:pPr algn="l"/>
            <a:r>
              <a:rPr sz="1200" b="0">
                <a:solidFill>
                  <a:srgbClr val="94A3B8"/>
                </a:solidFill>
                <a:latin typeface="Segoe UI"/>
              </a:rPr>
              <a:t>The threshold values in config.py were chosen to match the synthetic data. On a real busy network, some normal activity could trigger false alarms.</a:t>
            </a:r>
          </a:p>
        </p:txBody>
      </p:sp>
      <p:sp>
        <p:nvSpPr>
          <p:cNvPr id="13" name="Rectangle 12"/>
          <p:cNvSpPr/>
          <p:nvPr/>
        </p:nvSpPr>
        <p:spPr>
          <a:xfrm>
            <a:off x="365760" y="4846320"/>
            <a:ext cx="5486400" cy="160020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919472"/>
            <a:ext cx="5303520" cy="347472"/>
          </a:xfrm>
          <a:prstGeom prst="rect">
            <a:avLst/>
          </a:prstGeom>
          <a:noFill/>
        </p:spPr>
        <p:txBody>
          <a:bodyPr wrap="square">
            <a:spAutoFit/>
          </a:bodyPr>
          <a:lstStyle/>
          <a:p>
            <a:pPr algn="l"/>
            <a:r>
              <a:rPr sz="1300" b="1">
                <a:solidFill>
                  <a:srgbClr val="F59E0B"/>
                </a:solidFill>
                <a:latin typeface="Segoe UI"/>
              </a:rPr>
              <a:t>3. No machine learning</a:t>
            </a:r>
          </a:p>
        </p:txBody>
      </p:sp>
      <p:sp>
        <p:nvSpPr>
          <p:cNvPr id="15" name="TextBox 14"/>
          <p:cNvSpPr txBox="1"/>
          <p:nvPr/>
        </p:nvSpPr>
        <p:spPr>
          <a:xfrm>
            <a:off x="457200" y="5303520"/>
            <a:ext cx="5303520" cy="1051560"/>
          </a:xfrm>
          <a:prstGeom prst="rect">
            <a:avLst/>
          </a:prstGeom>
          <a:noFill/>
        </p:spPr>
        <p:txBody>
          <a:bodyPr wrap="square">
            <a:spAutoFit/>
          </a:bodyPr>
          <a:lstStyle/>
          <a:p>
            <a:pPr algn="l"/>
            <a:r>
              <a:rPr sz="1200" b="0">
                <a:solidFill>
                  <a:srgbClr val="94A3B8"/>
                </a:solidFill>
                <a:latin typeface="Segoe UI"/>
              </a:rPr>
              <a:t>The tool can only detect the three specific patterns it has rules for. Slow-and-low attacks that stay below the threshold are missed.</a:t>
            </a:r>
          </a:p>
        </p:txBody>
      </p:sp>
      <p:sp>
        <p:nvSpPr>
          <p:cNvPr id="16" name="Rectangle 15"/>
          <p:cNvSpPr/>
          <p:nvPr/>
        </p:nvSpPr>
        <p:spPr>
          <a:xfrm>
            <a:off x="6126480" y="1463040"/>
            <a:ext cx="5486400" cy="160020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1536192"/>
            <a:ext cx="5303520" cy="347472"/>
          </a:xfrm>
          <a:prstGeom prst="rect">
            <a:avLst/>
          </a:prstGeom>
          <a:noFill/>
        </p:spPr>
        <p:txBody>
          <a:bodyPr wrap="square">
            <a:spAutoFit/>
          </a:bodyPr>
          <a:lstStyle/>
          <a:p>
            <a:pPr algn="l"/>
            <a:r>
              <a:rPr sz="1300" b="1">
                <a:solidFill>
                  <a:srgbClr val="F59E0B"/>
                </a:solidFill>
                <a:latin typeface="Segoe UI"/>
              </a:rPr>
              <a:t>4. Only three attack types</a:t>
            </a:r>
          </a:p>
        </p:txBody>
      </p:sp>
      <p:sp>
        <p:nvSpPr>
          <p:cNvPr id="18" name="TextBox 17"/>
          <p:cNvSpPr txBox="1"/>
          <p:nvPr/>
        </p:nvSpPr>
        <p:spPr>
          <a:xfrm>
            <a:off x="6217920" y="1920240"/>
            <a:ext cx="5303520" cy="1051560"/>
          </a:xfrm>
          <a:prstGeom prst="rect">
            <a:avLst/>
          </a:prstGeom>
          <a:noFill/>
        </p:spPr>
        <p:txBody>
          <a:bodyPr wrap="square">
            <a:spAutoFit/>
          </a:bodyPr>
          <a:lstStyle/>
          <a:p>
            <a:pPr algn="l"/>
            <a:r>
              <a:rPr sz="1200" b="0">
                <a:solidFill>
                  <a:srgbClr val="94A3B8"/>
                </a:solidFill>
                <a:latin typeface="Segoe UI"/>
              </a:rPr>
              <a:t>Brute force, DDoS, SQL injection, and many other attacks are not covered.</a:t>
            </a:r>
          </a:p>
        </p:txBody>
      </p:sp>
      <p:sp>
        <p:nvSpPr>
          <p:cNvPr id="19" name="Rectangle 18"/>
          <p:cNvSpPr/>
          <p:nvPr/>
        </p:nvSpPr>
        <p:spPr>
          <a:xfrm>
            <a:off x="6126480" y="3154680"/>
            <a:ext cx="5486400" cy="160020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3227832"/>
            <a:ext cx="5303520" cy="347472"/>
          </a:xfrm>
          <a:prstGeom prst="rect">
            <a:avLst/>
          </a:prstGeom>
          <a:noFill/>
        </p:spPr>
        <p:txBody>
          <a:bodyPr wrap="square">
            <a:spAutoFit/>
          </a:bodyPr>
          <a:lstStyle/>
          <a:p>
            <a:pPr algn="l"/>
            <a:r>
              <a:rPr sz="1300" b="1">
                <a:solidFill>
                  <a:srgbClr val="F59E0B"/>
                </a:solidFill>
                <a:latin typeface="Segoe UI"/>
              </a:rPr>
              <a:t>5. Exfiltration direction assumption</a:t>
            </a:r>
          </a:p>
        </p:txBody>
      </p:sp>
      <p:sp>
        <p:nvSpPr>
          <p:cNvPr id="21" name="TextBox 20"/>
          <p:cNvSpPr txBox="1"/>
          <p:nvPr/>
        </p:nvSpPr>
        <p:spPr>
          <a:xfrm>
            <a:off x="6217920" y="3611880"/>
            <a:ext cx="5303520" cy="1051560"/>
          </a:xfrm>
          <a:prstGeom prst="rect">
            <a:avLst/>
          </a:prstGeom>
          <a:noFill/>
        </p:spPr>
        <p:txBody>
          <a:bodyPr wrap="square">
            <a:spAutoFit/>
          </a:bodyPr>
          <a:lstStyle/>
          <a:p>
            <a:pPr algn="l"/>
            <a:r>
              <a:rPr sz="1200" b="0">
                <a:solidFill>
                  <a:srgbClr val="94A3B8"/>
                </a:solidFill>
                <a:latin typeface="Segoe UI"/>
              </a:rPr>
              <a:t>The detector only checks OUTBOUND flows. Large internal transfers are not flagged.</a:t>
            </a:r>
          </a:p>
        </p:txBody>
      </p:sp>
      <p:sp>
        <p:nvSpPr>
          <p:cNvPr id="22" name="Rectangle 21"/>
          <p:cNvSpPr/>
          <p:nvPr/>
        </p:nvSpPr>
        <p:spPr>
          <a:xfrm>
            <a:off x="6126480" y="4846320"/>
            <a:ext cx="5486400" cy="160020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4919472"/>
            <a:ext cx="5303520" cy="347472"/>
          </a:xfrm>
          <a:prstGeom prst="rect">
            <a:avLst/>
          </a:prstGeom>
          <a:noFill/>
        </p:spPr>
        <p:txBody>
          <a:bodyPr wrap="square">
            <a:spAutoFit/>
          </a:bodyPr>
          <a:lstStyle/>
          <a:p>
            <a:pPr algn="l"/>
            <a:r>
              <a:rPr sz="1300" b="1">
                <a:solidFill>
                  <a:srgbClr val="F59E0B"/>
                </a:solidFill>
                <a:latin typeface="Segoe UI"/>
              </a:rPr>
              <a:t>6. No authentication</a:t>
            </a:r>
          </a:p>
        </p:txBody>
      </p:sp>
      <p:sp>
        <p:nvSpPr>
          <p:cNvPr id="24" name="TextBox 23"/>
          <p:cNvSpPr txBox="1"/>
          <p:nvPr/>
        </p:nvSpPr>
        <p:spPr>
          <a:xfrm>
            <a:off x="6217920" y="5303520"/>
            <a:ext cx="5303520" cy="1051560"/>
          </a:xfrm>
          <a:prstGeom prst="rect">
            <a:avLst/>
          </a:prstGeom>
          <a:noFill/>
        </p:spPr>
        <p:txBody>
          <a:bodyPr wrap="square">
            <a:spAutoFit/>
          </a:bodyPr>
          <a:lstStyle/>
          <a:p>
            <a:pPr algn="l"/>
            <a:r>
              <a:rPr sz="1200" b="0">
                <a:solidFill>
                  <a:srgbClr val="94A3B8"/>
                </a:solidFill>
                <a:latin typeface="Segoe UI"/>
              </a:rPr>
              <a:t>The Streamlit dashboard has no login. Anyone with access to the URL can view all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MITRE ATT&amp;CK Framework Mapping</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Connecting detections to a global threat intelligence standard</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17320"/>
            <a:ext cx="11430000" cy="411480"/>
          </a:xfrm>
          <a:prstGeom prst="rect">
            <a:avLst/>
          </a:prstGeom>
          <a:noFill/>
        </p:spPr>
        <p:txBody>
          <a:bodyPr wrap="square">
            <a:spAutoFit/>
          </a:bodyPr>
          <a:lstStyle/>
          <a:p>
            <a:pPr algn="l"/>
            <a:r>
              <a:rPr sz="1300" b="0">
                <a:solidFill>
                  <a:srgbClr val="94A3B8"/>
                </a:solidFill>
                <a:latin typeface="Segoe UI"/>
              </a:rPr>
              <a:t>MITRE ATT&amp;CK is a publicly available knowledge base of attacker behaviours. Each technique has a unique ID. This project maps three detection rules to three techniques.</a:t>
            </a:r>
          </a:p>
        </p:txBody>
      </p:sp>
      <p:sp>
        <p:nvSpPr>
          <p:cNvPr id="8" name="Rectangle 7"/>
          <p:cNvSpPr/>
          <p:nvPr/>
        </p:nvSpPr>
        <p:spPr>
          <a:xfrm>
            <a:off x="365760" y="2011680"/>
            <a:ext cx="1280160" cy="1280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331720"/>
            <a:ext cx="1280160" cy="594360"/>
          </a:xfrm>
          <a:prstGeom prst="rect">
            <a:avLst/>
          </a:prstGeom>
          <a:noFill/>
        </p:spPr>
        <p:txBody>
          <a:bodyPr wrap="square">
            <a:spAutoFit/>
          </a:bodyPr>
          <a:lstStyle/>
          <a:p>
            <a:pPr algn="ctr"/>
            <a:r>
              <a:rPr sz="2200" b="1">
                <a:solidFill>
                  <a:srgbClr val="0B0F19"/>
                </a:solidFill>
                <a:latin typeface="Segoe UI"/>
              </a:rPr>
              <a:t>T1046</a:t>
            </a:r>
          </a:p>
        </p:txBody>
      </p:sp>
      <p:sp>
        <p:nvSpPr>
          <p:cNvPr id="10" name="Rectangle 9"/>
          <p:cNvSpPr/>
          <p:nvPr/>
        </p:nvSpPr>
        <p:spPr>
          <a:xfrm>
            <a:off x="1737360" y="2011680"/>
            <a:ext cx="10058400" cy="128016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2057400"/>
            <a:ext cx="3474720" cy="457200"/>
          </a:xfrm>
          <a:prstGeom prst="rect">
            <a:avLst/>
          </a:prstGeom>
          <a:noFill/>
        </p:spPr>
        <p:txBody>
          <a:bodyPr wrap="square">
            <a:spAutoFit/>
          </a:bodyPr>
          <a:lstStyle/>
          <a:p>
            <a:pPr algn="l"/>
            <a:r>
              <a:rPr sz="1500" b="1">
                <a:solidFill>
                  <a:srgbClr val="F8FAFC"/>
                </a:solidFill>
                <a:latin typeface="Segoe UI"/>
              </a:rPr>
              <a:t>Network Service Discovery</a:t>
            </a:r>
          </a:p>
        </p:txBody>
      </p:sp>
      <p:sp>
        <p:nvSpPr>
          <p:cNvPr id="12" name="TextBox 11"/>
          <p:cNvSpPr txBox="1"/>
          <p:nvPr/>
        </p:nvSpPr>
        <p:spPr>
          <a:xfrm>
            <a:off x="1828800" y="2560320"/>
            <a:ext cx="3474720" cy="640080"/>
          </a:xfrm>
          <a:prstGeom prst="rect">
            <a:avLst/>
          </a:prstGeom>
          <a:noFill/>
        </p:spPr>
        <p:txBody>
          <a:bodyPr wrap="square">
            <a:spAutoFit/>
          </a:bodyPr>
          <a:lstStyle/>
          <a:p>
            <a:pPr algn="l"/>
            <a:r>
              <a:rPr sz="1200" b="0">
                <a:solidFill>
                  <a:srgbClr val="94A3B8"/>
                </a:solidFill>
                <a:latin typeface="Segoe UI"/>
              </a:rPr>
              <a:t>Tactic: Discovery
(TA0007)
Kill Chain: Reconnaissance</a:t>
            </a:r>
          </a:p>
        </p:txBody>
      </p:sp>
      <p:sp>
        <p:nvSpPr>
          <p:cNvPr id="13" name="Rectangle 12"/>
          <p:cNvSpPr/>
          <p:nvPr/>
        </p:nvSpPr>
        <p:spPr>
          <a:xfrm>
            <a:off x="5577840" y="2057400"/>
            <a:ext cx="18288" cy="1188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2194560"/>
            <a:ext cx="6035040" cy="914400"/>
          </a:xfrm>
          <a:prstGeom prst="rect">
            <a:avLst/>
          </a:prstGeom>
          <a:noFill/>
        </p:spPr>
        <p:txBody>
          <a:bodyPr wrap="square">
            <a:spAutoFit/>
          </a:bodyPr>
          <a:lstStyle/>
          <a:p>
            <a:pPr algn="l"/>
            <a:r>
              <a:rPr sz="1300" b="0">
                <a:solidFill>
                  <a:srgbClr val="F8FAFC"/>
                </a:solidFill>
                <a:latin typeface="Segoe UI"/>
              </a:rPr>
              <a:t>Attacker probes ports on a host to find vulnerable services.</a:t>
            </a:r>
          </a:p>
        </p:txBody>
      </p:sp>
      <p:sp>
        <p:nvSpPr>
          <p:cNvPr id="15" name="Rectangle 14"/>
          <p:cNvSpPr/>
          <p:nvPr/>
        </p:nvSpPr>
        <p:spPr>
          <a:xfrm>
            <a:off x="365760" y="3474720"/>
            <a:ext cx="1280160" cy="1280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794760"/>
            <a:ext cx="1280160" cy="594360"/>
          </a:xfrm>
          <a:prstGeom prst="rect">
            <a:avLst/>
          </a:prstGeom>
          <a:noFill/>
        </p:spPr>
        <p:txBody>
          <a:bodyPr wrap="square">
            <a:spAutoFit/>
          </a:bodyPr>
          <a:lstStyle/>
          <a:p>
            <a:pPr algn="ctr"/>
            <a:r>
              <a:rPr sz="2200" b="1">
                <a:solidFill>
                  <a:srgbClr val="0B0F19"/>
                </a:solidFill>
                <a:latin typeface="Segoe UI"/>
              </a:rPr>
              <a:t>T1018</a:t>
            </a:r>
          </a:p>
        </p:txBody>
      </p:sp>
      <p:sp>
        <p:nvSpPr>
          <p:cNvPr id="17" name="Rectangle 16"/>
          <p:cNvSpPr/>
          <p:nvPr/>
        </p:nvSpPr>
        <p:spPr>
          <a:xfrm>
            <a:off x="1737360" y="3474720"/>
            <a:ext cx="10058400" cy="128016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0" y="3520440"/>
            <a:ext cx="3474720" cy="457200"/>
          </a:xfrm>
          <a:prstGeom prst="rect">
            <a:avLst/>
          </a:prstGeom>
          <a:noFill/>
        </p:spPr>
        <p:txBody>
          <a:bodyPr wrap="square">
            <a:spAutoFit/>
          </a:bodyPr>
          <a:lstStyle/>
          <a:p>
            <a:pPr algn="l"/>
            <a:r>
              <a:rPr sz="1500" b="1">
                <a:solidFill>
                  <a:srgbClr val="F8FAFC"/>
                </a:solidFill>
                <a:latin typeface="Segoe UI"/>
              </a:rPr>
              <a:t>Remote System Discovery</a:t>
            </a:r>
          </a:p>
        </p:txBody>
      </p:sp>
      <p:sp>
        <p:nvSpPr>
          <p:cNvPr id="19" name="TextBox 18"/>
          <p:cNvSpPr txBox="1"/>
          <p:nvPr/>
        </p:nvSpPr>
        <p:spPr>
          <a:xfrm>
            <a:off x="1828800" y="4023360"/>
            <a:ext cx="3474720" cy="640080"/>
          </a:xfrm>
          <a:prstGeom prst="rect">
            <a:avLst/>
          </a:prstGeom>
          <a:noFill/>
        </p:spPr>
        <p:txBody>
          <a:bodyPr wrap="square">
            <a:spAutoFit/>
          </a:bodyPr>
          <a:lstStyle/>
          <a:p>
            <a:pPr algn="l"/>
            <a:r>
              <a:rPr sz="1200" b="0">
                <a:solidFill>
                  <a:srgbClr val="94A3B8"/>
                </a:solidFill>
                <a:latin typeface="Segoe UI"/>
              </a:rPr>
              <a:t>Tactic: Discovery
(TA0007)
Kill Chain: Lateral Movement Prep</a:t>
            </a:r>
          </a:p>
        </p:txBody>
      </p:sp>
      <p:sp>
        <p:nvSpPr>
          <p:cNvPr id="20" name="Rectangle 19"/>
          <p:cNvSpPr/>
          <p:nvPr/>
        </p:nvSpPr>
        <p:spPr>
          <a:xfrm>
            <a:off x="5577840" y="3520440"/>
            <a:ext cx="18288" cy="1188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3657600"/>
            <a:ext cx="6035040" cy="914400"/>
          </a:xfrm>
          <a:prstGeom prst="rect">
            <a:avLst/>
          </a:prstGeom>
          <a:noFill/>
        </p:spPr>
        <p:txBody>
          <a:bodyPr wrap="square">
            <a:spAutoFit/>
          </a:bodyPr>
          <a:lstStyle/>
          <a:p>
            <a:pPr algn="l"/>
            <a:r>
              <a:rPr sz="1300" b="0">
                <a:solidFill>
                  <a:srgbClr val="F8FAFC"/>
                </a:solidFill>
                <a:latin typeface="Segoe UI"/>
              </a:rPr>
              <a:t>Attacker maps the subnet to find other live machines.</a:t>
            </a:r>
          </a:p>
        </p:txBody>
      </p:sp>
      <p:sp>
        <p:nvSpPr>
          <p:cNvPr id="22" name="Rectangle 21"/>
          <p:cNvSpPr/>
          <p:nvPr/>
        </p:nvSpPr>
        <p:spPr>
          <a:xfrm>
            <a:off x="365760" y="4937760"/>
            <a:ext cx="1280160" cy="1280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257800"/>
            <a:ext cx="1280160" cy="594360"/>
          </a:xfrm>
          <a:prstGeom prst="rect">
            <a:avLst/>
          </a:prstGeom>
          <a:noFill/>
        </p:spPr>
        <p:txBody>
          <a:bodyPr wrap="square">
            <a:spAutoFit/>
          </a:bodyPr>
          <a:lstStyle/>
          <a:p>
            <a:pPr algn="ctr"/>
            <a:r>
              <a:rPr sz="2200" b="1">
                <a:solidFill>
                  <a:srgbClr val="0B0F19"/>
                </a:solidFill>
                <a:latin typeface="Segoe UI"/>
              </a:rPr>
              <a:t>T1048</a:t>
            </a:r>
          </a:p>
        </p:txBody>
      </p:sp>
      <p:sp>
        <p:nvSpPr>
          <p:cNvPr id="24" name="Rectangle 23"/>
          <p:cNvSpPr/>
          <p:nvPr/>
        </p:nvSpPr>
        <p:spPr>
          <a:xfrm>
            <a:off x="1737360" y="4937760"/>
            <a:ext cx="10058400" cy="128016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0" y="4983480"/>
            <a:ext cx="3474720" cy="457200"/>
          </a:xfrm>
          <a:prstGeom prst="rect">
            <a:avLst/>
          </a:prstGeom>
          <a:noFill/>
        </p:spPr>
        <p:txBody>
          <a:bodyPr wrap="square">
            <a:spAutoFit/>
          </a:bodyPr>
          <a:lstStyle/>
          <a:p>
            <a:pPr algn="l"/>
            <a:r>
              <a:rPr sz="1500" b="1">
                <a:solidFill>
                  <a:srgbClr val="F8FAFC"/>
                </a:solidFill>
                <a:latin typeface="Segoe UI"/>
              </a:rPr>
              <a:t>Exfiltration Over
Alternative Protocol</a:t>
            </a:r>
          </a:p>
        </p:txBody>
      </p:sp>
      <p:sp>
        <p:nvSpPr>
          <p:cNvPr id="26" name="TextBox 25"/>
          <p:cNvSpPr txBox="1"/>
          <p:nvPr/>
        </p:nvSpPr>
        <p:spPr>
          <a:xfrm>
            <a:off x="1828800" y="5486400"/>
            <a:ext cx="3474720" cy="640080"/>
          </a:xfrm>
          <a:prstGeom prst="rect">
            <a:avLst/>
          </a:prstGeom>
          <a:noFill/>
        </p:spPr>
        <p:txBody>
          <a:bodyPr wrap="square">
            <a:spAutoFit/>
          </a:bodyPr>
          <a:lstStyle/>
          <a:p>
            <a:pPr algn="l"/>
            <a:r>
              <a:rPr sz="1200" b="0">
                <a:solidFill>
                  <a:srgbClr val="94A3B8"/>
                </a:solidFill>
                <a:latin typeface="Segoe UI"/>
              </a:rPr>
              <a:t>Tactic: Exfiltration
(TA0010)
Kill Chain: Actions on Objectives</a:t>
            </a:r>
          </a:p>
        </p:txBody>
      </p:sp>
      <p:sp>
        <p:nvSpPr>
          <p:cNvPr id="27" name="Rectangle 26"/>
          <p:cNvSpPr/>
          <p:nvPr/>
        </p:nvSpPr>
        <p:spPr>
          <a:xfrm>
            <a:off x="5577840" y="4983480"/>
            <a:ext cx="18288" cy="1188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0" y="5120640"/>
            <a:ext cx="6035040" cy="914400"/>
          </a:xfrm>
          <a:prstGeom prst="rect">
            <a:avLst/>
          </a:prstGeom>
          <a:noFill/>
        </p:spPr>
        <p:txBody>
          <a:bodyPr wrap="square">
            <a:spAutoFit/>
          </a:bodyPr>
          <a:lstStyle/>
          <a:p>
            <a:pPr algn="l"/>
            <a:r>
              <a:rPr sz="1300" b="0">
                <a:solidFill>
                  <a:srgbClr val="F8FAFC"/>
                </a:solidFill>
                <a:latin typeface="Segoe UI"/>
              </a:rPr>
              <a:t>Attacker sends stolen data outbound over an unmonitored channel.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Conclusions</a:t>
            </a:r>
          </a:p>
        </p:txBody>
      </p:sp>
      <p:sp>
        <p:nvSpPr>
          <p:cNvPr id="5" name="TextBox 4"/>
          <p:cNvSpPr txBox="1"/>
          <p:nvPr/>
        </p:nvSpPr>
        <p:spPr>
          <a:xfrm>
            <a:off x="457200" y="841248"/>
            <a:ext cx="10972800" cy="320040"/>
          </a:xfrm>
          <a:prstGeom prst="rect">
            <a:avLst/>
          </a:prstGeom>
          <a:noFill/>
        </p:spPr>
        <p:txBody>
          <a:bodyPr wrap="square">
            <a:spAutoFit/>
          </a:bodyPr>
          <a:lstStyle/>
          <a:p>
            <a:pPr algn="l"/>
            <a:r>
              <a:rPr sz="1300" b="0">
                <a:solidFill>
                  <a:srgbClr val="94A3B8"/>
                </a:solidFill>
                <a:latin typeface="Segoe UI"/>
              </a:rPr>
              <a:t>What was built, what was shown, what comes next</a:t>
            </a:r>
          </a:p>
        </p:txBody>
      </p:sp>
      <p:sp>
        <p:nvSpPr>
          <p:cNvPr id="6" name="Rectangle 5"/>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6858000" cy="5120640"/>
          </a:xfrm>
          <a:prstGeom prst="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6675120" cy="365760"/>
          </a:xfrm>
          <a:prstGeom prst="rect">
            <a:avLst/>
          </a:prstGeom>
          <a:noFill/>
        </p:spPr>
        <p:txBody>
          <a:bodyPr wrap="square">
            <a:spAutoFit/>
          </a:bodyPr>
          <a:lstStyle/>
          <a:p>
            <a:pPr algn="l"/>
            <a:r>
              <a:rPr sz="1400" b="1">
                <a:solidFill>
                  <a:srgbClr val="10B981"/>
                </a:solidFill>
                <a:latin typeface="Segoe UI"/>
              </a:rPr>
              <a:t>What Was Achieved</a:t>
            </a:r>
          </a:p>
        </p:txBody>
      </p:sp>
      <p:sp>
        <p:nvSpPr>
          <p:cNvPr id="9" name="TextBox 8"/>
          <p:cNvSpPr txBox="1"/>
          <p:nvPr/>
        </p:nvSpPr>
        <p:spPr>
          <a:xfrm>
            <a:off x="457200" y="1920240"/>
            <a:ext cx="6675120" cy="4389120"/>
          </a:xfrm>
          <a:prstGeom prst="rect">
            <a:avLst/>
          </a:prstGeom>
          <a:noFill/>
        </p:spPr>
        <p:txBody>
          <a:bodyPr wrap="square">
            <a:spAutoFit/>
          </a:bodyPr>
          <a:lstStyle/>
          <a:p>
            <a:pPr algn="l"/>
            <a:r>
              <a:rPr sz="1300">
                <a:solidFill>
                  <a:srgbClr val="F8FAFC"/>
                </a:solidFill>
                <a:latin typeface="Segoe UI"/>
              </a:rPr>
              <a:t>  - Three network attack types detected using simple Python counting rules.</a:t>
            </a:r>
          </a:p>
          <a:p>
            <a:pPr algn="l"/>
            <a:r>
              <a:rPr sz="1300">
                <a:solidFill>
                  <a:srgbClr val="F8FAFC"/>
                </a:solidFill>
                <a:latin typeface="Segoe UI"/>
              </a:rPr>
              <a:t>  - All detections mapped to MITRE ATT&amp;CK (T1046, T1018, T1048).</a:t>
            </a:r>
          </a:p>
          <a:p>
            <a:pPr algn="l"/>
            <a:r>
              <a:rPr sz="1300">
                <a:solidFill>
                  <a:srgbClr val="F8FAFC"/>
                </a:solidFill>
                <a:latin typeface="Segoe UI"/>
              </a:rPr>
              <a:t>  - Multi-stage attacks grouped into one incident automatically.</a:t>
            </a:r>
          </a:p>
          <a:p>
            <a:pPr algn="l"/>
            <a:r>
              <a:rPr sz="1300">
                <a:solidFill>
                  <a:srgbClr val="F8FAFC"/>
                </a:solidFill>
                <a:latin typeface="Segoe UI"/>
              </a:rPr>
              <a:t>  - Risk score explained step-by-step to the analyst (0-100).</a:t>
            </a:r>
          </a:p>
          <a:p>
            <a:pPr algn="l"/>
            <a:r>
              <a:rPr sz="1300">
                <a:solidFill>
                  <a:srgbClr val="F8FAFC"/>
                </a:solidFill>
                <a:latin typeface="Segoe UI"/>
              </a:rPr>
              <a:t>  - Interactive Streamlit dashboard with 5 analytic views.</a:t>
            </a:r>
          </a:p>
          <a:p>
            <a:pPr algn="l"/>
            <a:r>
              <a:rPr sz="1300">
                <a:solidFill>
                  <a:srgbClr val="F8FAFC"/>
                </a:solidFill>
                <a:latin typeface="Segoe UI"/>
              </a:rPr>
              <a:t>  - Forensic dossier generated and downloadable as markdown.</a:t>
            </a:r>
          </a:p>
          <a:p>
            <a:pPr algn="l"/>
            <a:r>
              <a:rPr sz="1300">
                <a:solidFill>
                  <a:srgbClr val="F8FAFC"/>
                </a:solidFill>
                <a:latin typeface="Segoe UI"/>
              </a:rPr>
              <a:t>  - 10 / 10 unit tests passing.</a:t>
            </a:r>
          </a:p>
          <a:p>
            <a:pPr algn="l"/>
            <a:r>
              <a:rPr sz="1300">
                <a:solidFill>
                  <a:srgbClr val="F8FAFC"/>
                </a:solidFill>
                <a:latin typeface="Segoe UI"/>
              </a:rPr>
              <a:t>  - Total: 1,671 lines of Python, no external APIs, no machine learning.</a:t>
            </a:r>
          </a:p>
        </p:txBody>
      </p:sp>
      <p:sp>
        <p:nvSpPr>
          <p:cNvPr id="10" name="Rectangle 9"/>
          <p:cNvSpPr/>
          <p:nvPr/>
        </p:nvSpPr>
        <p:spPr>
          <a:xfrm>
            <a:off x="7406640" y="1417320"/>
            <a:ext cx="4572000" cy="5120640"/>
          </a:xfrm>
          <a:prstGeom prst="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1508760"/>
            <a:ext cx="4389120" cy="365760"/>
          </a:xfrm>
          <a:prstGeom prst="rect">
            <a:avLst/>
          </a:prstGeom>
          <a:noFill/>
        </p:spPr>
        <p:txBody>
          <a:bodyPr wrap="square">
            <a:spAutoFit/>
          </a:bodyPr>
          <a:lstStyle/>
          <a:p>
            <a:pPr algn="l"/>
            <a:r>
              <a:rPr sz="1400" b="1">
                <a:solidFill>
                  <a:srgbClr val="F59E0B"/>
                </a:solidFill>
                <a:latin typeface="Segoe UI"/>
              </a:rPr>
              <a:t>Future Improvements</a:t>
            </a:r>
          </a:p>
        </p:txBody>
      </p:sp>
      <p:sp>
        <p:nvSpPr>
          <p:cNvPr id="12" name="TextBox 11"/>
          <p:cNvSpPr txBox="1"/>
          <p:nvPr/>
        </p:nvSpPr>
        <p:spPr>
          <a:xfrm>
            <a:off x="7498079" y="1920240"/>
            <a:ext cx="4389120" cy="4389120"/>
          </a:xfrm>
          <a:prstGeom prst="rect">
            <a:avLst/>
          </a:prstGeom>
          <a:noFill/>
        </p:spPr>
        <p:txBody>
          <a:bodyPr wrap="square">
            <a:spAutoFit/>
          </a:bodyPr>
          <a:lstStyle/>
          <a:p>
            <a:pPr algn="l"/>
            <a:r>
              <a:rPr sz="1300">
                <a:solidFill>
                  <a:srgbClr val="F8FAFC"/>
                </a:solidFill>
                <a:latin typeface="Segoe UI"/>
              </a:rPr>
              <a:t>  - Test on real anonymised AWS VPC Flow Logs.</a:t>
            </a:r>
          </a:p>
          <a:p>
            <a:pPr algn="l"/>
            <a:r>
              <a:rPr sz="1300">
                <a:solidFill>
                  <a:srgbClr val="F8FAFC"/>
                </a:solidFill>
                <a:latin typeface="Segoe UI"/>
              </a:rPr>
              <a:t>  - Add baseline-aware thresholds (adaptive, not fixed).</a:t>
            </a:r>
          </a:p>
          <a:p>
            <a:pPr algn="l"/>
            <a:r>
              <a:rPr sz="1300">
                <a:solidFill>
                  <a:srgbClr val="F8FAFC"/>
                </a:solidFill>
                <a:latin typeface="Segoe UI"/>
              </a:rPr>
              <a:t>  - Add more detection rules (brute force, DDoS).</a:t>
            </a:r>
          </a:p>
          <a:p>
            <a:pPr algn="l"/>
            <a:r>
              <a:rPr sz="1300">
                <a:solidFill>
                  <a:srgbClr val="F8FAFC"/>
                </a:solidFill>
                <a:latin typeface="Segoe UI"/>
              </a:rPr>
              <a:t>  - Add user authentication to the dashboard.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320040"/>
          </a:xfrm>
          <a:prstGeom prst="rect">
            <a:avLst/>
          </a:prstGeom>
          <a:noFill/>
        </p:spPr>
        <p:txBody>
          <a:bodyPr wrap="square">
            <a:spAutoFit/>
          </a:bodyPr>
          <a:lstStyle/>
          <a:p>
            <a:pPr algn="l"/>
            <a:r>
              <a:rPr sz="900" b="1">
                <a:solidFill>
                  <a:srgbClr val="38BDF8"/>
                </a:solidFill>
                <a:latin typeface="Segoe UI"/>
              </a:rPr>
              <a:t>CYBERSECURITY &amp; CLOUD — NETSL EUTH LITE</a:t>
            </a:r>
          </a:p>
        </p:txBody>
      </p:sp>
      <p:sp>
        <p:nvSpPr>
          <p:cNvPr id="4" name="TextBox 3"/>
          <p:cNvSpPr txBox="1"/>
          <p:nvPr/>
        </p:nvSpPr>
        <p:spPr>
          <a:xfrm>
            <a:off x="457200" y="320040"/>
            <a:ext cx="10972800" cy="594360"/>
          </a:xfrm>
          <a:prstGeom prst="rect">
            <a:avLst/>
          </a:prstGeom>
          <a:noFill/>
        </p:spPr>
        <p:txBody>
          <a:bodyPr wrap="square">
            <a:spAutoFit/>
          </a:bodyPr>
          <a:lstStyle/>
          <a:p>
            <a:pPr algn="l"/>
            <a:r>
              <a:rPr sz="2600" b="1">
                <a:solidFill>
                  <a:srgbClr val="F8FAFC"/>
                </a:solidFill>
                <a:latin typeface="Segoe UI"/>
              </a:rPr>
              <a:t>References</a:t>
            </a:r>
          </a:p>
        </p:txBody>
      </p:sp>
      <p:sp>
        <p:nvSpPr>
          <p:cNvPr id="5" name="Rectangle 4"/>
          <p:cNvSpPr/>
          <p:nvPr/>
        </p:nvSpPr>
        <p:spPr>
          <a:xfrm>
            <a:off x="457200" y="1234440"/>
            <a:ext cx="112745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0"/>
            <a:ext cx="11430000" cy="475488"/>
          </a:xfrm>
          <a:prstGeom prst="rect">
            <a:avLst/>
          </a:prstGeom>
          <a:noFill/>
        </p:spPr>
        <p:txBody>
          <a:bodyPr wrap="square">
            <a:spAutoFit/>
          </a:bodyPr>
          <a:lstStyle/>
          <a:p>
            <a:pPr algn="l"/>
            <a:r>
              <a:rPr sz="1100" b="0">
                <a:solidFill>
                  <a:srgbClr val="F8FAFC"/>
                </a:solidFill>
                <a:latin typeface="Segoe UI"/>
              </a:rPr>
              <a:t>Amazon Web Services. (2024). VPC Flow Logs documentation.
  https://docs.aws.amazon.com/vpc/latest/userguide/flow-logs.html</a:t>
            </a:r>
          </a:p>
        </p:txBody>
      </p:sp>
      <p:sp>
        <p:nvSpPr>
          <p:cNvPr id="7" name="TextBox 6"/>
          <p:cNvSpPr txBox="1"/>
          <p:nvPr/>
        </p:nvSpPr>
        <p:spPr>
          <a:xfrm>
            <a:off x="365760" y="1975104"/>
            <a:ext cx="11430000" cy="475488"/>
          </a:xfrm>
          <a:prstGeom prst="rect">
            <a:avLst/>
          </a:prstGeom>
          <a:noFill/>
        </p:spPr>
        <p:txBody>
          <a:bodyPr wrap="square">
            <a:spAutoFit/>
          </a:bodyPr>
          <a:lstStyle/>
          <a:p>
            <a:pPr algn="l"/>
            <a:r>
              <a:rPr sz="1100" b="0">
                <a:solidFill>
                  <a:srgbClr val="94A3B8"/>
                </a:solidFill>
                <a:latin typeface="Segoe UI"/>
              </a:rPr>
              <a:t>MITRE Corporation. (2024). MITRE ATT&amp;CK Enterprise Matrix.
  https://attack.mitre.org/</a:t>
            </a:r>
          </a:p>
        </p:txBody>
      </p:sp>
      <p:sp>
        <p:nvSpPr>
          <p:cNvPr id="8" name="TextBox 7"/>
          <p:cNvSpPr txBox="1"/>
          <p:nvPr/>
        </p:nvSpPr>
        <p:spPr>
          <a:xfrm>
            <a:off x="365760" y="2487168"/>
            <a:ext cx="11430000" cy="475488"/>
          </a:xfrm>
          <a:prstGeom prst="rect">
            <a:avLst/>
          </a:prstGeom>
          <a:noFill/>
        </p:spPr>
        <p:txBody>
          <a:bodyPr wrap="square">
            <a:spAutoFit/>
          </a:bodyPr>
          <a:lstStyle/>
          <a:p>
            <a:pPr algn="l"/>
            <a:r>
              <a:rPr sz="1100" b="0">
                <a:solidFill>
                  <a:srgbClr val="F8FAFC"/>
                </a:solidFill>
                <a:latin typeface="Segoe UI"/>
              </a:rPr>
              <a:t>MITRE T1046 — Network Service Discovery.  https://attack.mitre.org/techniques/T1046/</a:t>
            </a:r>
          </a:p>
        </p:txBody>
      </p:sp>
      <p:sp>
        <p:nvSpPr>
          <p:cNvPr id="9" name="TextBox 8"/>
          <p:cNvSpPr txBox="1"/>
          <p:nvPr/>
        </p:nvSpPr>
        <p:spPr>
          <a:xfrm>
            <a:off x="365760" y="2999232"/>
            <a:ext cx="11430000" cy="475488"/>
          </a:xfrm>
          <a:prstGeom prst="rect">
            <a:avLst/>
          </a:prstGeom>
          <a:noFill/>
        </p:spPr>
        <p:txBody>
          <a:bodyPr wrap="square">
            <a:spAutoFit/>
          </a:bodyPr>
          <a:lstStyle/>
          <a:p>
            <a:pPr algn="l"/>
            <a:r>
              <a:rPr sz="1100" b="0">
                <a:solidFill>
                  <a:srgbClr val="94A3B8"/>
                </a:solidFill>
                <a:latin typeface="Segoe UI"/>
              </a:rPr>
              <a:t>MITRE T1018 — Remote System Discovery.  https://attack.mitre.org/techniques/T1018/</a:t>
            </a:r>
          </a:p>
        </p:txBody>
      </p:sp>
      <p:sp>
        <p:nvSpPr>
          <p:cNvPr id="10" name="TextBox 9"/>
          <p:cNvSpPr txBox="1"/>
          <p:nvPr/>
        </p:nvSpPr>
        <p:spPr>
          <a:xfrm>
            <a:off x="365760" y="3511296"/>
            <a:ext cx="11430000" cy="475488"/>
          </a:xfrm>
          <a:prstGeom prst="rect">
            <a:avLst/>
          </a:prstGeom>
          <a:noFill/>
        </p:spPr>
        <p:txBody>
          <a:bodyPr wrap="square">
            <a:spAutoFit/>
          </a:bodyPr>
          <a:lstStyle/>
          <a:p>
            <a:pPr algn="l"/>
            <a:r>
              <a:rPr sz="1100" b="0">
                <a:solidFill>
                  <a:srgbClr val="F8FAFC"/>
                </a:solidFill>
                <a:latin typeface="Segoe UI"/>
              </a:rPr>
              <a:t>MITRE T1048 — Exfiltration Over Alternative Protocol.  https://attack.mitre.org/techniques/T1048/</a:t>
            </a:r>
          </a:p>
        </p:txBody>
      </p:sp>
      <p:sp>
        <p:nvSpPr>
          <p:cNvPr id="11" name="TextBox 10"/>
          <p:cNvSpPr txBox="1"/>
          <p:nvPr/>
        </p:nvSpPr>
        <p:spPr>
          <a:xfrm>
            <a:off x="365760" y="4023360"/>
            <a:ext cx="11430000" cy="475488"/>
          </a:xfrm>
          <a:prstGeom prst="rect">
            <a:avLst/>
          </a:prstGeom>
          <a:noFill/>
        </p:spPr>
        <p:txBody>
          <a:bodyPr wrap="square">
            <a:spAutoFit/>
          </a:bodyPr>
          <a:lstStyle/>
          <a:p>
            <a:pPr algn="l"/>
            <a:r>
              <a:rPr sz="1100" b="0">
                <a:solidFill>
                  <a:srgbClr val="94A3B8"/>
                </a:solidFill>
                <a:latin typeface="Segoe UI"/>
              </a:rPr>
              <a:t>Streamlit Inc. (2024). Streamlit documentation.  https://docs.streamlit.io/</a:t>
            </a:r>
          </a:p>
        </p:txBody>
      </p:sp>
      <p:sp>
        <p:nvSpPr>
          <p:cNvPr id="12" name="TextBox 11"/>
          <p:cNvSpPr txBox="1"/>
          <p:nvPr/>
        </p:nvSpPr>
        <p:spPr>
          <a:xfrm>
            <a:off x="365760" y="4535424"/>
            <a:ext cx="11430000" cy="475488"/>
          </a:xfrm>
          <a:prstGeom prst="rect">
            <a:avLst/>
          </a:prstGeom>
          <a:noFill/>
        </p:spPr>
        <p:txBody>
          <a:bodyPr wrap="square">
            <a:spAutoFit/>
          </a:bodyPr>
          <a:lstStyle/>
          <a:p>
            <a:pPr algn="l"/>
            <a:r>
              <a:rPr sz="1100" b="0">
                <a:solidFill>
                  <a:srgbClr val="F8FAFC"/>
                </a:solidFill>
                <a:latin typeface="Segoe UI"/>
              </a:rPr>
              <a:t>Pandas Development Team. (2024). pandas documentation.  https://pandas.pydata.org/</a:t>
            </a:r>
          </a:p>
        </p:txBody>
      </p:sp>
      <p:sp>
        <p:nvSpPr>
          <p:cNvPr id="13" name="TextBox 12"/>
          <p:cNvSpPr txBox="1"/>
          <p:nvPr/>
        </p:nvSpPr>
        <p:spPr>
          <a:xfrm>
            <a:off x="365760" y="5047488"/>
            <a:ext cx="11430000" cy="475488"/>
          </a:xfrm>
          <a:prstGeom prst="rect">
            <a:avLst/>
          </a:prstGeom>
          <a:noFill/>
        </p:spPr>
        <p:txBody>
          <a:bodyPr wrap="square">
            <a:spAutoFit/>
          </a:bodyPr>
          <a:lstStyle/>
          <a:p>
            <a:pPr algn="l"/>
            <a:r>
              <a:rPr sz="1100" b="0">
                <a:solidFill>
                  <a:srgbClr val="94A3B8"/>
                </a:solidFill>
                <a:latin typeface="Segoe UI"/>
              </a:rPr>
              <a:t>NetworkX Developers. (2024). NetworkX documentation.  https://networkx.org/</a:t>
            </a:r>
          </a:p>
        </p:txBody>
      </p:sp>
      <p:sp>
        <p:nvSpPr>
          <p:cNvPr id="14" name="TextBox 13"/>
          <p:cNvSpPr txBox="1"/>
          <p:nvPr/>
        </p:nvSpPr>
        <p:spPr>
          <a:xfrm>
            <a:off x="365760" y="5559552"/>
            <a:ext cx="11430000" cy="475488"/>
          </a:xfrm>
          <a:prstGeom prst="rect">
            <a:avLst/>
          </a:prstGeom>
          <a:noFill/>
        </p:spPr>
        <p:txBody>
          <a:bodyPr wrap="square">
            <a:spAutoFit/>
          </a:bodyPr>
          <a:lstStyle/>
          <a:p>
            <a:pPr algn="l"/>
            <a:r>
              <a:rPr sz="1100" b="0">
                <a:solidFill>
                  <a:srgbClr val="F8FAFC"/>
                </a:solidFill>
                <a:latin typeface="Segoe UI"/>
              </a:rPr>
              <a:t>Plotly Technologies. (2024). Plotly Python graphing library.  https://plotly.com/python/</a:t>
            </a:r>
          </a:p>
        </p:txBody>
      </p:sp>
      <p:sp>
        <p:nvSpPr>
          <p:cNvPr id="15" name="TextBox 14"/>
          <p:cNvSpPr txBox="1"/>
          <p:nvPr/>
        </p:nvSpPr>
        <p:spPr>
          <a:xfrm>
            <a:off x="365760" y="6071616"/>
            <a:ext cx="11430000" cy="475488"/>
          </a:xfrm>
          <a:prstGeom prst="rect">
            <a:avLst/>
          </a:prstGeom>
          <a:noFill/>
        </p:spPr>
        <p:txBody>
          <a:bodyPr wrap="square">
            <a:spAutoFit/>
          </a:bodyPr>
          <a:lstStyle/>
          <a:p>
            <a:pPr algn="l"/>
            <a:r>
              <a:rPr sz="1100" b="0">
                <a:solidFill>
                  <a:srgbClr val="94A3B8"/>
                </a:solidFill>
                <a:latin typeface="Segoe UI"/>
              </a:rPr>
              <a:t>Pytest Development Team. (2024). pytest documentation.  https://docs.pytest.org/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0152" cy="731520"/>
          </a:xfrm>
          <a:prstGeom prst="rect">
            <a:avLst/>
          </a:prstGeom>
          <a:noFill/>
        </p:spPr>
        <p:txBody>
          <a:bodyPr wrap="square">
            <a:spAutoFit/>
          </a:bodyPr>
          <a:lstStyle/>
          <a:p>
            <a:pPr algn="ctr"/>
            <a:r>
              <a:rPr sz="6000" b="1">
                <a:solidFill>
                  <a:srgbClr val="F8FAFC"/>
                </a:solidFill>
                <a:latin typeface="Segoe UI"/>
              </a:rPr>
              <a:t>Thank You</a:t>
            </a:r>
          </a:p>
        </p:txBody>
      </p:sp>
      <p:sp>
        <p:nvSpPr>
          <p:cNvPr id="5" name="Rectangle 4"/>
          <p:cNvSpPr/>
          <p:nvPr/>
        </p:nvSpPr>
        <p:spPr>
          <a:xfrm>
            <a:off x="3657600" y="2606040"/>
            <a:ext cx="487375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34640"/>
            <a:ext cx="10360152" cy="548640"/>
          </a:xfrm>
          <a:prstGeom prst="rect">
            <a:avLst/>
          </a:prstGeom>
          <a:noFill/>
        </p:spPr>
        <p:txBody>
          <a:bodyPr wrap="square">
            <a:spAutoFit/>
          </a:bodyPr>
          <a:lstStyle/>
          <a:p>
            <a:pPr algn="ctr"/>
            <a:r>
              <a:rPr sz="1600" b="0">
                <a:solidFill>
                  <a:srgbClr val="94A3B8"/>
                </a:solidFill>
                <a:latin typeface="Segoe UI"/>
              </a:rPr>
              <a:t>NetSleuth Lite — Cybersecurity and Cloud, [COURSE CODE]</a:t>
            </a:r>
          </a:p>
        </p:txBody>
      </p:sp>
      <p:sp>
        <p:nvSpPr>
          <p:cNvPr id="7" name="TextBox 6"/>
          <p:cNvSpPr txBox="1"/>
          <p:nvPr/>
        </p:nvSpPr>
        <p:spPr>
          <a:xfrm>
            <a:off x="914400" y="3429000"/>
            <a:ext cx="10360152" cy="457200"/>
          </a:xfrm>
          <a:prstGeom prst="rect">
            <a:avLst/>
          </a:prstGeom>
          <a:noFill/>
        </p:spPr>
        <p:txBody>
          <a:bodyPr wrap="square">
            <a:spAutoFit/>
          </a:bodyPr>
          <a:lstStyle/>
          <a:p>
            <a:pPr algn="ctr"/>
            <a:r>
              <a:rPr sz="1400" b="0">
                <a:solidFill>
                  <a:srgbClr val="94A3B8"/>
                </a:solidFill>
                <a:latin typeface="Segoe UI"/>
              </a:rPr>
              <a:t>[STUDENT NAME]   |   [COLLEGE / UNIVERSITY]   |   [ACADEMIC YEAR]</a:t>
            </a:r>
          </a:p>
        </p:txBody>
      </p:sp>
      <p:sp>
        <p:nvSpPr>
          <p:cNvPr id="8" name="Rectangle 7"/>
          <p:cNvSpPr/>
          <p:nvPr/>
        </p:nvSpPr>
        <p:spPr>
          <a:xfrm>
            <a:off x="1828800" y="4206240"/>
            <a:ext cx="8531352" cy="22860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4297680"/>
            <a:ext cx="8348472" cy="365760"/>
          </a:xfrm>
          <a:prstGeom prst="rect">
            <a:avLst/>
          </a:prstGeom>
          <a:noFill/>
        </p:spPr>
        <p:txBody>
          <a:bodyPr wrap="square">
            <a:spAutoFit/>
          </a:bodyPr>
          <a:lstStyle/>
          <a:p>
            <a:pPr algn="ctr"/>
            <a:r>
              <a:rPr sz="1300" b="1">
                <a:solidFill>
                  <a:srgbClr val="38BDF8"/>
                </a:solidFill>
                <a:latin typeface="Segoe UI"/>
              </a:rPr>
              <a:t>Key Take-Aways</a:t>
            </a:r>
          </a:p>
        </p:txBody>
      </p:sp>
      <p:sp>
        <p:nvSpPr>
          <p:cNvPr id="10" name="TextBox 9"/>
          <p:cNvSpPr txBox="1"/>
          <p:nvPr/>
        </p:nvSpPr>
        <p:spPr>
          <a:xfrm>
            <a:off x="1920240" y="4709160"/>
            <a:ext cx="8348472" cy="1645920"/>
          </a:xfrm>
          <a:prstGeom prst="rect">
            <a:avLst/>
          </a:prstGeom>
          <a:noFill/>
        </p:spPr>
        <p:txBody>
          <a:bodyPr wrap="square">
            <a:spAutoFit/>
          </a:bodyPr>
          <a:lstStyle/>
          <a:p>
            <a:pPr algn="ctr"/>
            <a:r>
              <a:rPr sz="1400" b="0">
                <a:solidFill>
                  <a:srgbClr val="F8FAFC"/>
                </a:solidFill>
                <a:latin typeface="Segoe UI"/>
              </a:rPr>
              <a:t>Three attack types detected  |  MITRE ATT&amp;CK mapped  |  Risk score explained step-by-step
10 / 10 tests passing  |  1,671 lines of Python  |  No machine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